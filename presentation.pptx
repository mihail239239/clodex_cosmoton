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cf7ebc2399a4b39" /><Relationship Type="http://schemas.openxmlformats.org/officeDocument/2006/relationships/extended-properties" Target="/docProps/app.xml" Id="Rd3b1a7dadfbc4f8d" /><Relationship Type="http://schemas.openxmlformats.org/officeDocument/2006/relationships/officeDocument" Target="/ppt/presentation.xml" Id="R2ca809bf9ba841e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5a2dbfd84c144266"/>
  </p:sldMasterIdLst>
  <p:notesMasterIdLst>
    <p:notesMasterId xmlns:r="http://schemas.openxmlformats.org/officeDocument/2006/relationships" r:id="R78cad29850a0498b"/>
  </p:notesMasterIdLst>
  <p:sldIdLst>
    <p:sldId xmlns:r="http://schemas.openxmlformats.org/officeDocument/2006/relationships" id="256" r:id="Rfc02866b03b2433d"/>
    <p:sldId xmlns:r="http://schemas.openxmlformats.org/officeDocument/2006/relationships" id="257" r:id="Rab919f6b83dc44f2"/>
    <p:sldId xmlns:r="http://schemas.openxmlformats.org/officeDocument/2006/relationships" id="258" r:id="Rd0276b5ce5344bc8"/>
    <p:sldId xmlns:r="http://schemas.openxmlformats.org/officeDocument/2006/relationships" id="259" r:id="Rdbc04b6f0d8d40e3"/>
    <p:sldId xmlns:r="http://schemas.openxmlformats.org/officeDocument/2006/relationships" id="260" r:id="R20ad4eca59f448a1"/>
    <p:sldId xmlns:r="http://schemas.openxmlformats.org/officeDocument/2006/relationships" id="261" r:id="Rd2a286782a344670"/>
    <p:sldId xmlns:r="http://schemas.openxmlformats.org/officeDocument/2006/relationships" id="262" r:id="R0c49a3c906f14442"/>
    <p:sldId xmlns:r="http://schemas.openxmlformats.org/officeDocument/2006/relationships" id="263" r:id="Rc8163c7587dd46b2"/>
    <p:sldId xmlns:r="http://schemas.openxmlformats.org/officeDocument/2006/relationships" id="264" r:id="R0cb647376d8c4639"/>
    <p:sldId xmlns:r="http://schemas.openxmlformats.org/officeDocument/2006/relationships" id="265" r:id="R84f206ed672a4023"/>
    <p:sldId xmlns:r="http://schemas.openxmlformats.org/officeDocument/2006/relationships" id="266" r:id="R5c0754f0083b46a3"/>
    <p:sldId xmlns:r="http://schemas.openxmlformats.org/officeDocument/2006/relationships" id="267" r:id="Rf24f9f902bdf4a12"/>
  </p:sldIdLst>
  <p:sldSz cx="12192000" cy="6858000"/>
  <p:notesSz cx="6858000" cy="9144000"/>
  <p:embeddedFontLst>
    <p:embeddedFont>
      <p:font typeface="Lora Medium"/>
      <p:regular xmlns:r="http://schemas.openxmlformats.org/officeDocument/2006/relationships" r:id="R3b4e872bb8224894"/>
      <p:italic xmlns:r="http://schemas.openxmlformats.org/officeDocument/2006/relationships" r:id="Rdaa7bc02915c40b4"/>
    </p:embeddedFont>
    <p:embeddedFont>
      <p:font typeface="Lora SemiBold"/>
      <p:regular xmlns:r="http://schemas.openxmlformats.org/officeDocument/2006/relationships" r:id="R834e6625f8994760"/>
      <p:bold xmlns:r="http://schemas.openxmlformats.org/officeDocument/2006/relationships" r:id="R802deabeda9b4abb"/>
      <p:italic xmlns:r="http://schemas.openxmlformats.org/officeDocument/2006/relationships" r:id="Rc4395bc28dd04721"/>
      <p:boldItalic xmlns:r="http://schemas.openxmlformats.org/officeDocument/2006/relationships" r:id="R6cc9a68c1e184938"/>
    </p:embeddedFont>
    <p:embeddedFont>
      <p:font typeface="OpenAI Sans"/>
      <p:regular xmlns:r="http://schemas.openxmlformats.org/officeDocument/2006/relationships" r:id="Rc138104829da450e"/>
      <p:bold xmlns:r="http://schemas.openxmlformats.org/officeDocument/2006/relationships" r:id="R8d057de5e5c9444e"/>
      <p:italic xmlns:r="http://schemas.openxmlformats.org/officeDocument/2006/relationships" r:id="R788376e9464c4ee3"/>
      <p:boldItalic xmlns:r="http://schemas.openxmlformats.org/officeDocument/2006/relationships" r:id="Rb71da49c291b43a7"/>
    </p:embeddedFont>
    <p:embeddedFont>
      <p:font typeface="Roboto"/>
      <p:regular xmlns:r="http://schemas.openxmlformats.org/officeDocument/2006/relationships" r:id="R8d096e01a3ec4892"/>
      <p:bold xmlns:r="http://schemas.openxmlformats.org/officeDocument/2006/relationships" r:id="R63f8b4c315f841f7"/>
      <p:italic xmlns:r="http://schemas.openxmlformats.org/officeDocument/2006/relationships" r:id="R08dded9370774826"/>
      <p:boldItalic xmlns:r="http://schemas.openxmlformats.org/officeDocument/2006/relationships" r:id="R72a35d53963e4ef9"/>
    </p:embeddedFont>
    <p:embeddedFont>
      <p:font typeface="Roboto Medium"/>
      <p:regular xmlns:r="http://schemas.openxmlformats.org/officeDocument/2006/relationships" r:id="R8cf4090f0f364c73"/>
      <p:italic xmlns:r="http://schemas.openxmlformats.org/officeDocument/2006/relationships" r:id="Ree2908c787cd4b27"/>
    </p:embeddedFont>
    <p:embeddedFont>
      <p:font typeface="Roboto SemiBold"/>
      <p:regular xmlns:r="http://schemas.openxmlformats.org/officeDocument/2006/relationships" r:id="Rbf62a7bfb94c4df1"/>
      <p:bold xmlns:r="http://schemas.openxmlformats.org/officeDocument/2006/relationships" r:id="R201dd876a82547ca"/>
      <p:italic xmlns:r="http://schemas.openxmlformats.org/officeDocument/2006/relationships" r:id="Rc558899eb98942cf"/>
      <p:boldItalic xmlns:r="http://schemas.openxmlformats.org/officeDocument/2006/relationships" r:id="R2e96d87ed5e8449b"/>
    </p:embeddedFont>
    <p:embeddedFont>
      <p:font typeface="Roboto Serif 14pt"/>
      <p:regular xmlns:r="http://schemas.openxmlformats.org/officeDocument/2006/relationships" r:id="Ra48f757f708b4370"/>
      <p:bold xmlns:r="http://schemas.openxmlformats.org/officeDocument/2006/relationships" r:id="R339a89a016a142ac"/>
      <p:italic xmlns:r="http://schemas.openxmlformats.org/officeDocument/2006/relationships" r:id="Rb88b0a5bce5b44a3"/>
      <p:boldItalic xmlns:r="http://schemas.openxmlformats.org/officeDocument/2006/relationships" r:id="R42d4c65a35e140a5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1c34a95e7f74a5d" /><Relationship Type="http://schemas.openxmlformats.org/officeDocument/2006/relationships/slideMaster" Target="/ppt/slideMasters/slideMaster1.xml" Id="R5a2dbfd84c144266" /><Relationship Type="http://schemas.openxmlformats.org/officeDocument/2006/relationships/notesMaster" Target="/ppt/notesMasters/notesMaster1.xml" Id="R78cad29850a0498b" /><Relationship Type="http://schemas.openxmlformats.org/officeDocument/2006/relationships/presProps" Target="/ppt/presProps.xml" Id="R640c8954109045b1" /><Relationship Type="http://schemas.openxmlformats.org/officeDocument/2006/relationships/viewProps" Target="/ppt/viewProps.xml" Id="R7d55e5ae8002429f" /><Relationship Type="http://schemas.openxmlformats.org/officeDocument/2006/relationships/tableStyles" Target="/ppt/tableStyles.xml" Id="R4d10a2e4c719455d" /><Relationship Type="http://schemas.openxmlformats.org/officeDocument/2006/relationships/font" Target="/ppt/fonts/font.dat" Id="R3b4e872bb8224894" /><Relationship Type="http://schemas.openxmlformats.org/officeDocument/2006/relationships/font" Target="/ppt/fonts/font2.dat" Id="Rdaa7bc02915c40b4" /><Relationship Type="http://schemas.openxmlformats.org/officeDocument/2006/relationships/font" Target="/ppt/fonts/font3.dat" Id="R834e6625f8994760" /><Relationship Type="http://schemas.openxmlformats.org/officeDocument/2006/relationships/font" Target="/ppt/fonts/font4.dat" Id="R802deabeda9b4abb" /><Relationship Type="http://schemas.openxmlformats.org/officeDocument/2006/relationships/font" Target="/ppt/fonts/font5.dat" Id="Rc4395bc28dd04721" /><Relationship Type="http://schemas.openxmlformats.org/officeDocument/2006/relationships/font" Target="/ppt/fonts/font6.dat" Id="R6cc9a68c1e184938" /><Relationship Type="http://schemas.openxmlformats.org/officeDocument/2006/relationships/font" Target="/ppt/fonts/font7.dat" Id="Rc138104829da450e" /><Relationship Type="http://schemas.openxmlformats.org/officeDocument/2006/relationships/font" Target="/ppt/fonts/font8.dat" Id="R8d057de5e5c9444e" /><Relationship Type="http://schemas.openxmlformats.org/officeDocument/2006/relationships/font" Target="/ppt/fonts/font9.dat" Id="R788376e9464c4ee3" /><Relationship Type="http://schemas.openxmlformats.org/officeDocument/2006/relationships/font" Target="/ppt/fonts/font10.dat" Id="Rb71da49c291b43a7" /><Relationship Type="http://schemas.openxmlformats.org/officeDocument/2006/relationships/font" Target="/ppt/fonts/font11.dat" Id="R8d096e01a3ec4892" /><Relationship Type="http://schemas.openxmlformats.org/officeDocument/2006/relationships/font" Target="/ppt/fonts/font12.dat" Id="R63f8b4c315f841f7" /><Relationship Type="http://schemas.openxmlformats.org/officeDocument/2006/relationships/font" Target="/ppt/fonts/font13.dat" Id="R08dded9370774826" /><Relationship Type="http://schemas.openxmlformats.org/officeDocument/2006/relationships/font" Target="/ppt/fonts/font14.dat" Id="R72a35d53963e4ef9" /><Relationship Type="http://schemas.openxmlformats.org/officeDocument/2006/relationships/font" Target="/ppt/fonts/font15.dat" Id="R8cf4090f0f364c73" /><Relationship Type="http://schemas.openxmlformats.org/officeDocument/2006/relationships/font" Target="/ppt/fonts/font16.dat" Id="Ree2908c787cd4b27" /><Relationship Type="http://schemas.openxmlformats.org/officeDocument/2006/relationships/font" Target="/ppt/fonts/font17.dat" Id="Rbf62a7bfb94c4df1" /><Relationship Type="http://schemas.openxmlformats.org/officeDocument/2006/relationships/font" Target="/ppt/fonts/font18.dat" Id="R201dd876a82547ca" /><Relationship Type="http://schemas.openxmlformats.org/officeDocument/2006/relationships/font" Target="/ppt/fonts/font19.dat" Id="Rc558899eb98942cf" /><Relationship Type="http://schemas.openxmlformats.org/officeDocument/2006/relationships/font" Target="/ppt/fonts/font20.dat" Id="R2e96d87ed5e8449b" /><Relationship Type="http://schemas.openxmlformats.org/officeDocument/2006/relationships/font" Target="/ppt/fonts/font21.dat" Id="Ra48f757f708b4370" /><Relationship Type="http://schemas.openxmlformats.org/officeDocument/2006/relationships/font" Target="/ppt/fonts/font22.dat" Id="R339a89a016a142ac" /><Relationship Type="http://schemas.openxmlformats.org/officeDocument/2006/relationships/font" Target="/ppt/fonts/font23.dat" Id="Rb88b0a5bce5b44a3" /><Relationship Type="http://schemas.openxmlformats.org/officeDocument/2006/relationships/font" Target="/ppt/fonts/font24.dat" Id="R42d4c65a35e140a5" /><Relationship Type="http://schemas.openxmlformats.org/officeDocument/2006/relationships/slide" Target="/ppt/slides/slide1.xml" Id="Rfc02866b03b2433d" /><Relationship Type="http://schemas.openxmlformats.org/officeDocument/2006/relationships/slide" Target="/ppt/slides/slide2.xml" Id="Rab919f6b83dc44f2" /><Relationship Type="http://schemas.openxmlformats.org/officeDocument/2006/relationships/slide" Target="/ppt/slides/slide3.xml" Id="Rd0276b5ce5344bc8" /><Relationship Type="http://schemas.openxmlformats.org/officeDocument/2006/relationships/slide" Target="/ppt/slides/slide4.xml" Id="Rdbc04b6f0d8d40e3" /><Relationship Type="http://schemas.openxmlformats.org/officeDocument/2006/relationships/slide" Target="/ppt/slides/slide5.xml" Id="R20ad4eca59f448a1" /><Relationship Type="http://schemas.openxmlformats.org/officeDocument/2006/relationships/slide" Target="/ppt/slides/slide6.xml" Id="Rd2a286782a344670" /><Relationship Type="http://schemas.openxmlformats.org/officeDocument/2006/relationships/slide" Target="/ppt/slides/slide7.xml" Id="R0c49a3c906f14442" /><Relationship Type="http://schemas.openxmlformats.org/officeDocument/2006/relationships/slide" Target="/ppt/slides/slide8.xml" Id="Rc8163c7587dd46b2" /><Relationship Type="http://schemas.openxmlformats.org/officeDocument/2006/relationships/slide" Target="/ppt/slides/slide9.xml" Id="R0cb647376d8c4639" /><Relationship Type="http://schemas.openxmlformats.org/officeDocument/2006/relationships/slide" Target="/ppt/slides/slide10.xml" Id="R84f206ed672a4023" /><Relationship Type="http://schemas.openxmlformats.org/officeDocument/2006/relationships/slide" Target="/ppt/slides/slide11.xml" Id="R5c0754f0083b46a3" /><Relationship Type="http://schemas.openxmlformats.org/officeDocument/2006/relationships/slide" Target="/ppt/slides/slide12.xml" Id="Rf24f9f902bdf4a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c21d376d26740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Codex Theme">
  <a:themeElements>
    <a:clrScheme name="Theme 2">
      <a:dk1>
        <a:srgbClr val="000000"/>
      </a:dk1>
      <a:lt1>
        <a:srgbClr val="FFFFFF"/>
      </a:lt1>
      <a:dk2>
        <a:srgbClr val="0E2841"/>
      </a:dk2>
      <a:lt2>
        <a:srgbClr val="FAFCFE"/>
      </a:lt2>
      <a:accent1>
        <a:srgbClr val="3357B8"/>
      </a:accent1>
      <a:accent2>
        <a:srgbClr val="CFD2D9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Lora Roboto">
      <a:majorFont>
        <a:latin typeface="Lora"/>
        <a:ea typeface=""/>
        <a:cs typeface=""/>
      </a:majorFont>
      <a:minorFont>
        <a:latin typeface="Roboto"/>
        <a:ea typeface=""/>
        <a:cs typeface=""/>
      </a:minorFont>
    </a:fontScheme>
    <a:fmtScheme name="Theme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425c13828d4845" /><Relationship Type="http://schemas.openxmlformats.org/officeDocument/2006/relationships/notesMaster" Target="/ppt/notesMasters/notesMaster1.xml" Id="Ra8df1440a6fb48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674f3ee99a941b3" /><Relationship Type="http://schemas.openxmlformats.org/officeDocument/2006/relationships/notesMaster" Target="/ppt/notesMasters/notesMaster1.xml" Id="R0175e42720ea4a0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d3310fc786847ec" /><Relationship Type="http://schemas.openxmlformats.org/officeDocument/2006/relationships/notesMaster" Target="/ppt/notesMasters/notesMaster1.xml" Id="R31a6d00201ef4f2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ccd272ce9184361" /><Relationship Type="http://schemas.openxmlformats.org/officeDocument/2006/relationships/notesMaster" Target="/ppt/notesMasters/notesMaster1.xml" Id="R762ac4b1edbd45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076200be1d44c3" /><Relationship Type="http://schemas.openxmlformats.org/officeDocument/2006/relationships/notesMaster" Target="/ppt/notesMasters/notesMaster1.xml" Id="R716f37d97b394a0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53c9ed6cbd6404f" /><Relationship Type="http://schemas.openxmlformats.org/officeDocument/2006/relationships/notesMaster" Target="/ppt/notesMasters/notesMaster1.xml" Id="R815aa443878740d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dce81071fb542bc" /><Relationship Type="http://schemas.openxmlformats.org/officeDocument/2006/relationships/notesMaster" Target="/ppt/notesMasters/notesMaster1.xml" Id="Ra1c2e9bdcb2b4e8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8c83fda2eac4c8b" /><Relationship Type="http://schemas.openxmlformats.org/officeDocument/2006/relationships/notesMaster" Target="/ppt/notesMasters/notesMaster1.xml" Id="Ra6a3c157282a44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2755ca248974f93" /><Relationship Type="http://schemas.openxmlformats.org/officeDocument/2006/relationships/notesMaster" Target="/ppt/notesMasters/notesMaster1.xml" Id="R256eb32ea30146c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d00067480c74e5c" /><Relationship Type="http://schemas.openxmlformats.org/officeDocument/2006/relationships/notesMaster" Target="/ppt/notesMasters/notesMaster1.xml" Id="R94c260136b7e450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fd1dab0a74a4fe0" /><Relationship Type="http://schemas.openxmlformats.org/officeDocument/2006/relationships/notesMaster" Target="/ppt/notesMasters/notesMaster1.xml" Id="R04409d7ea1814e7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5961b6afbc04879" /><Relationship Type="http://schemas.openxmlformats.org/officeDocument/2006/relationships/notesMaster" Target="/ppt/notesMasters/notesMaster1.xml" Id="Rf6b29afcb4f94b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РЕШЕНИЕ И СТАТУС. Рекомендуется портфель №10: FIRE:D3 + AGRI:C + TRANS:C + ENV:D3. Расчёт по исходным данным кейса и допущениям команды от 12.09.2026.</a:t>
            </a:r>
            <a:endParaRPr/>
          </a:p>
          <a:p xmlns:a="http://schemas.openxmlformats.org/drawingml/2006/main">
            <a:r>
              <a:t>Задача: выбрать четыре разных лота из восьми, обосновать режимы доступа, финансирование и реализацию при девяти ограничениях BASE и STRESS. Данные кейса синтетические; полученные суммы являются результатом модели, а не действующими контрактами или измеренными эффектами.</a:t>
            </a:r>
            <a:endParaRPr/>
          </a:p>
          <a:p xmlns:a="http://schemas.openxmlformats.org/drawingml/2006/main">
            <a:r>
              <a:t>Выбранные четыре территориальных архетипа: Siberian, South, Central, VolgaCaspian. Две группы возможностей: EO и PNT/InSAR. Два лота с общественным ядром: FIRE и ENV. Остальные два работают в C. Общественное ядро и количество групп ровно на минимуме ограничения.</a:t>
            </a:r>
            <a:endParaRPr/>
          </a:p>
          <a:p xmlns:a="http://schemas.openxmlformats.org/drawingml/2006/main">
            <a:r>
              <a:t>Итог: C0=1104,00 млн руб.; OPEX=300,55 млн руб./год; CASH=398,00 млн руб./год; операционный остаток=97,45 млн руб./год; VPUB=1199 млн руб./год. NPV при ставке 10% и горизонте 10 лет равен −505,21194 млн руб.; PI=0,54238; SROI=2,49677. Капитальное финансирование необходимо обсудить отдельно от операционного покрытия.</a:t>
            </a:r>
            <a:endParaRPr/>
          </a:p>
          <a:p xmlns:a="http://schemas.openxmlformats.org/drawingml/2006/main">
            <a:r>
              <a:t>BASE: лимит1300, запас196. STRESS: лимит1180, запас76 млн руб. Все девять ограничений выполнены. При полном отсутствии ожидаемой экономии D3 и сохранении координационных расходов C0=1141,8, запас38,2 — также PASS. Это устойчивость допустимости, а не подтверждение выгоды D3.</a:t>
            </a:r>
            <a:endParaRPr/>
          </a:p>
          <a:p xmlns:a="http://schemas.openxmlformats.org/drawingml/2006/main">
            <a:r>
              <a:t>ИСТОЧНИКИ: ЗАПИСКА.md, «Резюме», П4, П6; СТРЕСС-РЕЗЮМЕ.md; test-main/output/pareto_front_report.csv, строка №10; test-main/data/lots.csv; test-main/config/case_config.json.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П1. ПОТРЕБНОСТИ РЕГИОНОВ. FIRE / Siberian: пожарные службы, лесничества, муниципалитеты получают раннее обнаружение очагов, площади и динамики пожара; информация помогает мобилизовать силы и уменьшать ущерб. ENV / VolgaCaspian: экологические органы и население получают мониторинг загрязнений, предупреждения и основание для реагирования. В обоих лотах D3 сохраняет бесплатный базовый общественный слой A.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AGRI / South: хозяйства и агрохолдинги используют мониторинг полей, прогноз урожая и точное земледелие; ожидаемый эффект — рациональное расходование ресурсов и снижение потерь. TRANS / Central: транспортные и логистические операторы используют мониторинг потоков и инфраструктуры; ожидаются своевременные решения против заторов и аварий. TRANS имеет readiness 4,8 и resilience 4,4 по исходным данным.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Цепочки «потребность → данные/сервис → действие → эффект» являются содержательным обоснованием. Кейс не даёт наблюдений, позволяющих доказать конкретное количество предотвращённых пожаров, гектаров или рублей ущерба. Не заявляем достигнутые результаты. VPUB — отдельная условная оценка общественной пользы. Она не прибавляется к CASH; платный сервис также может иметь общественный эффект. C сохраняет62% исходного VPUB, но не содержит обязательного бесплатного слоя.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Почему не остальные четыре лота: FLOOD — значимый альтернативный сервис Дальнего Востока, лучший денежный портфель №1 включает его вместо FIRE, но по принятому правилу уступает по качеству и общему выбору. INFRA даёт собственный общественный эффект (исходный VPUB 300); не входит в итог из-за сравнения портфелей и ограничения четырьмя лотами, а не из-за «нулевой дополнительной пользы». ARCTIC: исходные C0 460/OPEX 140, readiness 3,2, resilience 2,8; дорого в данном пространстве решений. SSA — федеральный лот, не добавляет региональный архетип, t_rep0,64. Низкие показатели отдельного лота не равны автоматическому нарушению портфельного ограничения. Отсутствие ARCTIC/SSA на фронте относится к заданным метрикам и допущениям, не доказывает ненужность сервисов.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ИСТОЧНИКИ: ЗАПИСКА.md, П1; test-main/data/lots.csv; PARETO_FRONT.md, структура фронта. Концептуальный фон: Payson, Public goods and the evaluation of complex outcomes in space economy (локальный PDF); OECD, The Space Economy at a Glance 2026 (Space Economy.pdf). Литература не является источником численных коэффициентов 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П2. МОДЕЛЬ, ИСТОЧНИКИ, ОГРАНИЧЕНИЯ. Канонический case_core.py, data/ и config/ организаторов не изменены. Каждый режим умножает пять исходных денежных/общественных величин лота: C0, OPEX, VPUB, anchor_cash, commercial_cash. Для портфеля суммы этих величин складываются; readiness, resilience, scale и t_rep усредняются. Режим не изменяет четыре индекса качества.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Порядок коэффициентов: (k_C0,k_OPEX,k_VPUB,k_anchor,k_commercial). A=(1,05;1,05;1;1;0,25), ядро=True. B=(1;1;0,82;0,8;0,70), ядро=False. C=(0,98;0,95;0,62;0,45;0,95), ядро=False. D1=(1,07;1,08;1;1;0,34), D3=(1,007;1,0175;1;1;0,25), оба проектно сохраняют общественное ядро.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Финансовые формулы: CASH=anchor+commercial; net=CASH−OPEX; kcash=CASH/OPEX. AF(r,T)=sum[t=1..T](1+r)^(-t). NPV=−C0+net×AF; PI=1+NPV/C0; SROI=VPUB×AF/(C0+OPEX×AF). PI безубыточен при1, не при0. Денежный поток и общественная оценка не складываются в рублях. Нормированные критерии позднее могут складываться при ранжировании: это иная операция.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Три блока: F_fin=z(NPV)+z(PI)+z(kcash); F_public=z(VPUB)+z(SROI)+z(public_core_fraction); F_quality=z(t_rep)+z(readiness)+z(resilience)+z(scale). z=(x−min)/(max−min) по всем1056 допустимым кандидатам; все показатели направлены на максимум. Деление числа лотов ядра на 4 не меняет minmax-сопоставление. Нормировка устраняет разный масштаб единиц, но не предпочтения команды.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Ставка10% и горизонт10 лет — допущения команды, а не нормативно подтверждённая «типовая социальная ставка». Потоки принимаются постоянными; фазы запуска не превращены в помесячный дисконтированный график. Модель не задаёт эластичность спроса, натуральный объём услуг, численные вероятности рисков, наблюдаемый ущерб, подробную смету интеграции и точную содержательную расшифровку t_rep. Доли D3 требуют проверки тендером. Изменение источников/режимов/нормировки требует пересчёта всего пространства.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ИСТОЧНИКИ: ЗАПИСКА.md, П2; test-main/case_core.py, team_model.py, user_modes.py, data/access_modes.csv; config/case_config.json.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П4. ПОЛНЫЙ ПЕРЕБОР И ВЫБОР. Два пользовательских механизма исследованы отдельными прогонами: в одном портфеле активен только один D, как в шаблоне организаторов. Объединённое пространство без повторения ABC: C(8,4)×(4^4+4^4−3^4)=30170. После допуска механизма D3 остаётся20161, после девяти канонических ограничений одновременно BASE и STRESS —1056, на фронте minmax —60. Это не70×5^4 и не смешивание D1 с D3.</a:t>
            </a:r>
            <a:endParaRPr/>
          </a:p>
          <a:p xmlns:a="http://schemas.openxmlformats.org/drawingml/2006/main">
            <a:r>
              <a:t>X доминирует Y, если не хуже по всем трём блокам и лучше хотя бы по одному. Фронт оставляет несравнимые альтернативы; сам по себе он не выбирает единственного победителя. Правило записки: минимизировать сумму рангов по трём блокам на фронте; при ничьей максимизировать S=F_fin+F_public+F_quality. №10: ранги2/47/22, сумма 71; №11:6/43/22, также71. Разрешение ничьей:6,689142 против6,569818. Выбран №10, который также максимизирует S на всём рассматриваемом фронте. Равная сумма десяти компонент даёт блокам неявные веса3:3:4; это открытое предпочтение команды, а не выбор без весов.</a:t>
            </a:r>
            <a:endParaRPr/>
          </a:p>
          <a:p xmlns:a="http://schemas.openxmlformats.org/drawingml/2006/main">
            <a:r>
              <a:t>Альтернативы: №1 FLOOD:D3 AGRI:C TRANS:C ENV:D3, NPV−479,805,VPUB 1239,F_quality2,508,запас55,86 — лучший денежный результат. №11 FIRE:D3 AGRI:C TRANS:B ENV:D3, NPV−580,874,VPUB 1243,качество3,запас71 — выше польза, меньше денег. №30 FIRE:D3 FLOOD:D3 AGRI:D3 TRANS:D3, NPV−1281,726,VPUB 1610,качество1,548,запас1,81 — максимум пользы, но kcash 0,948 и откат D→A нарушает STRESS. №40 AGRI:B INFRA:B TRANS:D1 ENV:D1, NPV−675,643,VPUB 1014,6,качество3,413,запас42,9 — максимум качества, общественный показатель близок к порогу. №22 FIRE:D3 AGRI:D3 TRANS:D3 ENV:D3: лучший по общественному блоку с безопасным чистым откатом; VPUB 1370,NPV−1250,416,kcash 0,930,SROI 2,783.</a:t>
            </a:r>
            <a:endParaRPr/>
          </a:p>
          <a:p xmlns:a="http://schemas.openxmlformats.org/drawingml/2006/main">
            <a:r>
              <a:t>Цена выбранного компромисса: общественный ранг47/60, ядро2 и группы2 ровно на минимуме; AGRI/TRANS в C сохраняют62% исходного VPUB. Нет лотов Дальнего Востока/Арктики/федерального SSA. №10 не лучший по всем отдельным метрикам.</a:t>
            </a:r>
            <a:endParaRPr/>
          </a:p>
          <a:p xmlns:a="http://schemas.openxmlformats.org/drawingml/2006/main">
            <a:r>
              <a:t>Устойчивость: threshold-нормировка даёт61 элемент,57 общих с60 minmax. При S_eq=F_fin/3+F_public/3+F_quality/4 №10 также лидер. Это локальная проверка, не доказательство при любых весах. Лучший ABC A+C+C+A имеет S6,488869 против6,689142: уступает по деньгам/пользе, равен по качеству. Все1056 имеют отрицательный NPV при10%/10 лет; PI у всех ниже1, но не обязательно отрицателен.</a:t>
            </a:r>
            <a:endParaRPr/>
          </a:p>
          <a:p xmlns:a="http://schemas.openxmlformats.org/drawingml/2006/main">
            <a:r>
              <a:t>ИСТОЧНИКИ: ЗАПИСКА.md, П4; PARETO_FRONT.md; test-main/pareto_search.py, pareto_report.py, team_model.py; output/pareto_front_report.csv.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D3: ОБОСНОВАНИЕ И САМООГРАНИЧЕНИЕ. Для FIRE и ENV повторно используется общий EO-компонент приёма спутниковых данных и первичной обработки. Карты, пороги тревог, интеграции с региональными службами и локальная эксплуатация сохраняются в затратах соответствующих лотов. Не предполагается совместное использование всей инфраструктуры или отсутствие региональных расходов.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Формальный допуск: минимум два лота именно в D3; пересечение групп возможностей всех выбранных D3-лотов непусто. FIRE и ENV имеют EO. Это необходимое условие отбора, не доказательство совместимых требований к данным, срокам, лицензиям или экономии. Проверка допуска реализована в pareto_search; evaluate.py сам по себе не отвергает любой несовместимый D3-портфель.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Проектные доли:20% стартовой сметы A могут быть общими, экономия на этой части30%;25% годовой сметы A общие, экономия на ней20%. Координация стоит дополнительно2% исходного C0 и2% исходного OPEX. Поэтому k_C0=1,05×(1−0,20×0,30)+0,02=1,007; k_OPEX=1,05×(1−0,25×0,20)+0,02=1,0175. k_VPUB=1,k_anchor=1,k_commercial=0,25; общественное ядро=True. Все четыре доли и координация — гипотезы команды, а не опубликованные нормативы или подтверждённые скидки поставщика.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В паре FIRE+ENV самостоятельный A стоит630 на запуск и168 ежегодно. Общая затрагиваемая часть126 и42 соответственно. Валовая экономия37,8 и8,4, координация12 и3,2: чистая экономия25,8 млн руб. C0 и5,2 млн руб./год OPEX, ΔNPV 57,752. Пороги безубыточности экономии на общей части:9,52% C0 и7,62% OPEX. Лишь при подтверждении общей сметой и распределением расходов можно считать снижение затрат обоснованным. Требуются техническая спецификация, сопоставимые раздельное/совместное предложения поставщиков, распределение расходов и паспорт бесплатного доступа; до этого D3 — проверяемая схема закупки.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D1 тоже рассматривался: общественное ядро A плюс платная надстройка, +2% исходного C0, +3% OPEX, захват20% разрыва коммерческих коэффициентов B−A:0,25+0,20×(0,70−0,25)=0,34. Он не вошёл в выбранный портфель. При theta0,20 надстройка FIRE не окупается (theta*=0,228); на высоких коммерческих базах окупаемость условна подтверждением спроса. D2,D4–D7 из d_type.md исключены из текущего перебора по обоснованиям user_modes.py. Статьи поддерживают логику доступа/закупки/разделения рисков, но не подтверждают численные доли D.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ИСТОЧНИКИ: ЗАПИСКА.md, П4–П5; test-main/user_modes.py; d_type_formal.md; d_type.md; test-main/data/lots.csv.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П3. ФИНАНСОВАЯ СХЕМА. Все суммы в млн руб.; C0 разовый, прочие потоки годовые. CASH = anchor + commercial = 163,75 + 234,25 = 398,00. Якорные поступления: 130 от FIRE/ENV + 33,75 от AGRI/TRANS. Коммерческие поступления: 30 от FIRE/ENV + 204,25 от AGRI/TRANS. Остаточный якорный поток в режиме C сохраняется по коэффициентам кейса; его конкретного плательщика и контракт необходимо подтвердить, новых плательщиков модель не определяет. OPEX 300,55. Операционный остаток97,45, kcash 1,32424. Номинальные поступления покрывают эксплуатацию без ежегодной эксплуатационной субсидии; это не означает возврата первоначальных затрат.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При r10%,T10 лет: NPV−505,21194; PI 0,54238; IRR−2,2065%; простая окупаемость11,3289 года, за пределами горизонта. SROI 2,49677 сопоставляет дисконтированную условную общественную пользу и затраты. VPUB 1199 не является денежной выручкой и не прибавляется к столбцу CASH. Индексы качества: t_rep0,73, readiness 4,525, resilience 4,05, scale 4,675.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Предлагаемая схема финансирования: межрегиональный заказчик финансирует весь стартовый C0 1104 капитальным грантом/целевым трансфертом. Конкретный бюджетный администратор, программа и юридическая форма не подтверждены. Программа «Кадры для космоса» не заявляется подтверждённым источником этих денег. Якорные платежи идут по контрактам заказчиков, коммерческие — по подпискам пользователей; оператор оплачивает текущую эксплуатацию. Капитальный риск несёт заказчик, рыночный риск — коммерческий оператор.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Проектные транши20/50/30%:20% после утверждения портфеля и D3 (Т0),50% после заключения контрактов (Т1),30% после приёмки, SLA и проверки переносимости (Т2). Это предлагаемая схема; точные даты и доступность средств согласуются до закупки. Стартовые затраты не уменьшаются от изменения источника финансирования.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Трансферт505,21 — расчётная величина, обнуляющая NPV оставшейся финансируемой части при указанных ставке/горизонте; он не тождествен предлагаемому полному капитальному финансированию1104 и не меняет реальный C0. Другие рассчитанные условия денежной безубыточности из записки: увеличение ежегодного net на 82,22; либо ставка5% и горизонт20 лет дают NPV+110,44 при тех же постоянных потоках. Поэтому не заявляем отрицательный NPV при любой возможной ставке/любом горизонте. При фиксированной10% даже бесконечный постоянный net выбранного варианта не возвращает C0.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ИСТОЧНИКИ: ЗАПИСКА.md, П3, П9; test-main/team_model.py, evaluate.py; output/pareto_front_report.csv, №10. Все схемы финансирования/траншей являются предложениями команды.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П5. РОЛИ, ДОСТУП, ДОГОВОРЫ. D3/FIRE+ENV: межрегиональный заказчик организует совместную закупку и оплачивает предусмотренные платежи; оператор общего EO-компонента поставляет сервис. Профильные службы используют и совместно с заказчиком принимают результаты; население получает общественный базовый слой. Паспорт доступа фиксирует получателей, бесплатность, недискриминационность и своевременность. Критические предупреждения нельзя задерживать ради премиальной подписки. Отдельная региональная адаптация не исключается из сметы.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C/AGRI+TRANS: коммерческие пользователи — заказчики, плательщики и принимающая сторона платной подписки; оператор её поставляет и несёт риск спроса. Помимо подписок, модель сохраняет якорные33,75 млн руб./год в C; их плательщик и контракт ещё подлежат подтверждению. Обязательного бесплатного базового слоя нет, но модель сохраняет62% исходной условной общественной ценности.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Предлагаемые условия: D3-договор на 3 года с конкурентным пересмотром не реже одного раза в3 года; C — годовая подписка с возможностью непродления. SLA и критерии приёмки задаются заранее. Повторные нарушения SLA — основание досрочного расторжения; платежи уменьшаются при нарушении SLA, но точную формулу штрафа ещё требуется согласовать. Не заявляем юридически утверждённый контракт или готовую штрафную сетку.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Для сохранения конкуренции нужны открытые форматы/API, документированная схема данных, права на доступ и экспорт результатов, документация эксплуатации и обязанность передачи данных следующему оператору. Это снижает стоимость смены, но не создаёт альтернативных поставщиков спутниковых данных там, где их нет.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Распределение рисков: капитальный/бюджетный риск — публичный заказчик; операционный SLA-риск и исполнение — оператор; рыночный риск C — коммерческий оператор. Общий EO-компонент создаёт коррелированный риск двух регионов. Приёмка должна проверять не только работоспособность, но и бесплатный слой, своевременность, переносимость, границы общей/локальной сметы.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ИСТОЧНИКИ: ЗАПИСКА.md, П5, П7, П9. Концептуальные источники: Melamed et al., The rise and consequences of evolving public-private partnerships; Zancan et al., Navigating procurement strategies adoption in the New Space transition; Takata &amp; Hidaka, New public-private partnership based on the interactive collaboration — локальные PDF. Из них не заимствованы неподтверждённые числа/сроки.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П6. ОФИЦИАЛЬНЫЙ STRESS И ОТДЕЛЬНАЯ ПРОВЕРКА D3. В каноническом стресс-сценарии изменяется только предел C0:1300→1180. Смета1104, выручка, OPEX, режимы и остальные восемь требований не меняются. Поэтому NPV и прочие показатели для фиксированного портфеля те же; запас C0 уменьшается196→76. Состав портфеля и базовый план запуска сохраняются. Это не доказательство неизменности всех реальных условий закупки при урезании бюджета.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Девять условий:4 уникальных лота;≥3 нефедеральных архетипа (факт4);≥2 группы (2);≥2 лота общественного ядра (2);C0≤1300/1180 (1104);OPEX≤360 (300,55);VPUB≥1000 (1199);kcash≥0,6 (1,32424);t_rep≥0,63 (0,73). Отдельных порогов readiness/resilience/scale нет. Все девять PASS в обоих сценариях.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Отдельный тест гипотезы D3 сохраняет координационные2% расходов. При100% ожидаемой экономии: коэффициенты1,007/1,0175,C0 1104,OPEX 300,55,NPV−505,21,kcash 1,324,SROI 2,497,запас76. При50%:1,0385/1,04375,C0 1122,9,OPEX 304,75,NPV−549,92,kcash 1,306,SROI 2,460,запас57,1. При0%:1,07/1,07,C0 1141,8,OPEX 308,95,NPV−594,63,kcash 1,288,SROI 2,423,запас38,2. Все условия BASE/STRESS выполнены.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Чистый отказ от D3 до расходов — другой сценарий: FIRE:A AGRI:C TRANS:C ENV:A, C0 1129,8,OPEX 305,75,NPV−562,96,запас50,2. Его нельзя смешивать с провалом после оплаты координации.18 из 60 портфелей старого фронта нарушают STRESS при чистом откате D→A; выбранный не входит в эти18. Неподтверждение D3 ухудшает экономику, хотя не лишает выбранный портфель допустимости.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Предельный C0 бюджета выбранного номинального портфеля1104 (сокращение15,1% против исходных1300); официальное сокращение9,2%. Остаток бюджета не является автоматически свободными деньгами на незаложенные резервы: любые новые расходы надо включать в смету и пересчитывать.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ИСТОЧНИКИ: ЗАПИСКА.md, П5–П6; СТРЕСС-РЕЗЮМЕ.md; test-main/config/case_config.json; case_core.py; user_modes.py; d_type_formal.md.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П7. ПОРТФЕЛЬНЫЕ РИСКИ И КОНКУРЕНЦИЯ. Численные вероятности кейс не задаёт. Оценки вероятности/силы качественные, это не вероятностная модель потерь.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1. Экономия D3 не подтверждена: средняя качественная вероятность, среднее влияние на финансы. Нужны сопоставимые предложения раздельной и совместной закупки, распределение общих/локальных затрат, независимый аудит до подписания. При нулевой экономии NPV−594,63 вместо−505,21, но запас STRESS38,2. Аудит не превращает оценку в гарантированную будущую экономию.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2. Один EO-поставщик обслуживает FIRE+ENV: общий отказ затрагивает два лота и два региона. Открытые интерфейсы, права экспорта, документация передачи и конкурсный пересмотр раз в3 года снижают привязку. Они не устраняют дефицит реальных альтернативных источников данных и не гарантируют непрерывность миграции.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3. Коммерческий спрос: пилотные договоры агрохолдингов и транспортных операторов до масштабирования, мониторинг CRM/выручки, ежегодный финансовый аудит. Доля совокупной commercial 234,25/398=58,9%; у AGRI+TRANS коммерческие204,25, ещё30 у FIRE+ENV. Поэтому порог92,9% относится именно к падению всей коммерческой выручки при неизменных anchor 163,75 и OPEX 300,55. При таком падении commercial 16,58 и kcash 0,6 — формальная допустимость на границе, а не операционная самоокупаемость. Для kcash 1 порог падения всей commercial 41,6%. При обнулении всей commercial kcash 0,545, FAIL. При обнулении только AGRI+TRANS kcash≈0,645, формальный порог ещё выполнен. Пилотные продажи не гарантируют полный прогноз спроса.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4. FIRE имеет resilience 3,5 против портфельных4,05. Численный индекс указывает на относительную слабость, но не задаёт вероятность сбоя; отдельного порога resilience в кейсе нет. Предлагаются резервный источник данных/канал и операционный резерв. Они требуют проверки технической доступности и отдельной цены; не включены как бесплатное уже обеспеченное преимущество. Простой пожарного сервиса влияет именно на раннее предупреждение.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ИСТОЧНИКИ: ЗАПИСКА.md, П7; test-main/data/lots.csv; расчёт №10. Порог41,6% выведен из тех же потоков:97,45/234,25.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П8. МЕЖРЕГИОНАЛЬНОЕ ТИРАЖИРОВАНИЕ. Повторно используемая часть: EO-цепочка первичного приёма/обработки данных, согласованные форматы и API, шаблон договора и паспорта доступа, инструмент расчёта и проверки портфеля. Распространяется проверенный пакет спецификаций и правил приёмки, а не только программный экран.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Локально сохраняются: карты и зоны мониторинга, пороги тревог, интеграции с пожарными/экологическими службами, регламенты реагирования, региональные readiness/resilience и местная эксплуатация. Их расходы не исчезают из D3. До масштабирования проверяются совместимость требований, качество/сроки данных, общая смета и распределение затрат.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Пилот FIRE+ENV должен дать документированную спецификацию общего компонента, результаты приёмки/SLA и перечень выявленных проблем; эти знания передаются следующему региону. Кандидат из записки — FLOOD (Дальний Восток), начиная с решения года3+, при устойчивых KPI текущих лотов. Пятый лот не является допустимым решением нынешнего кейса: при изменении состава или бюджете нужна новая постановка и пересчёт. Не выдаём расширение до5–6 лотов за итог перебора четырёх.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Портфельный scale 4,675 против среднего по восьми лотам4,5; это согласуется с мотивом тиражирования. Значения выбранных:AGRI4,8,TRANS4,7,ENV4,7,FIRE4,5. FIRE равен среднему, а не выше. Эти индексы не являются эмпирическим доказательством размера экономии на следующем регионе.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ИСТОЧНИКИ: ЗАПИСКА.md, П8–П9; test-main/data/lots.csv; user_modes.py.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П9. ПЛАН, РЕСУРСЫ И КОНТРОЛЬ. Этапы — предложение команды.</a:t>
            </a:r>
          </a:p>
          <a:p xmlns:a="http://schemas.openxmlformats.org/drawingml/2006/main">
            <a:r>
              <a:t>Т0,месяцы0–2: заказчик утверждает портфель, капитальное финансирование и схему D3; выход — мандат на закупку. Зависит от решения о бюджете C0.</a:t>
            </a:r>
          </a:p>
          <a:p xmlns:a="http://schemas.openxmlformats.org/drawingml/2006/main">
            <a:r>
              <a:t>Т1,месяцы2–6: заказчик и операторы проводят конкурсы, выбирают общий EO-компонент и коммерческую платформу, подписывают договоры; зависит от Т0.</a:t>
            </a:r>
          </a:p>
          <a:p xmlns:a="http://schemas.openxmlformats.org/drawingml/2006/main">
            <a:r>
              <a:t>Т2,месяцы6–10: оператор развёртывает сервисы, заказчик с профильными службами принимает; паспорт бесплатного доступа и своевременности FIRE/ENV подписан, переносимость D3 проверена; зависит от Т1.</a:t>
            </a:r>
          </a:p>
          <a:p xmlns:a="http://schemas.openxmlformats.org/drawingml/2006/main">
            <a:r>
              <a:t>Т3,месяцы10–12: оператор запускает anchor/commercial-платежи и предоставляет первый SLA-отчёт; зависит от Т2.</a:t>
            </a:r>
          </a:p>
          <a:p xmlns:a="http://schemas.openxmlformats.org/drawingml/2006/main">
            <a:r>
              <a:t>Т4,годы1–10: заказчик проводит ежегодный аудит KPI и конкурсный пересмотр D3-оператора раз в3 года; требуется текущий бюджет OPEX. Финансовая модель использует10 полных годовых периодов постоянных потоков и не моделирует помесячное развёртывание; график является управленческим дополнением.</a:t>
            </a:r>
          </a:p>
          <a:p xmlns:a="http://schemas.openxmlformats.org/drawingml/2006/main">
            <a:r>
              <a:t>Т5,год3+: заказчик и региональные партнёры решают вопрос расширения на FLOOD по накопленному опыту; условие — устойчивые KPI Т4 и новая проверка бюджета/совместимости.</a:t>
            </a:r>
          </a:p>
          <a:p xmlns:a="http://schemas.openxmlformats.org/drawingml/2006/main">
            <a:r>
              <a:t>Капитальные ресурсы1104 предложено выплачивать20/50/30% по Т0/Т1/Т2. Годовые расходы300,55 оплачиваются поступлениями398 в номинальной модели; реальные условия финансирования нужно подтвердить.</a:t>
            </a:r>
          </a:p>
          <a:p xmlns:a="http://schemas.openxmlformats.org/drawingml/2006/main">
            <a:r>
              <a:t>KPI 1: PASS всех 9 ограничений BASE/STRESS; источник обновлённая смета/evaluate.py; проверка пересчётом при изменении сметы. KPI 2: kcash≥1 как управленческая цель (формальный минимум0,6); источник бухотчётность; ежегодный аудит заказчиком. KPI 3: доступность общественного слоя≥99% как предлагаемый SLA; источник логи; ежеквартальный отчёт и выборочная проверка. KPI 4: фактическая экономия D3 не ниже подтверждённой тендером доли; смета против факта; независимый аудит. KPI 5: предотвращённый ущерб/площадь по FIRE и случаи реагирования ENV — положительная динамика год к году; отчёты профильных служб, верификация заказчиком, публичный отчёт. Атрибуция предотвращённого ущерба требует отдельного метода, здесь не заявлена доказанной. KPI 6: подписчики AGRI/TRANS растут относительно пилотной когорты; CRM, ежегодная сверка с коммерческим прогнозом.</a:t>
            </a:r>
          </a:p>
          <a:p xmlns:a="http://schemas.openxmlformats.org/drawingml/2006/main">
            <a:r>
              <a:t>Достижение KPI во время хакатона не заявляется и не требуется. Показаны будущие измерители, источники и владельцы контроля.</a:t>
            </a:r>
          </a:p>
          <a:p xmlns:a="http://schemas.openxmlformats.org/drawingml/2006/main">
            <a:r>
              <a:t>ИСТОЧНИКИ: ЗАПИСКА.md, П3, П9; официальные «Космос как инфраструктура — Постановка задачи.pdf» и «Критерии оценки.pdf», П9.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Т1–Т5. ПРЕДЪЯВЛЕНИЕ ИНСТРУМЕНТА И РЕШЕНИЕ К ЗАЩИТЕ. Независимо повторён запуск tests.py:12/12PASS; быстрый путь сверяется с каноническими расчётами на всех 5670ABC, максимальная ошибка2,27e−13. Перебор воспроизводит60 строк фронта с той же погрешностью. Проверены границы C0/t_rep, согласованность финансовых формул и независимость SROI от CASH.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Демонстрация в каталоге test-main: python evaluate.py FIRE:D3 AGRI:C TRANS:C ENV:D3. Затем изменить TRANS:C на TRANS:B и сравнить NPV−505→−581,VPUB 1199→1243,запас76→71. Изменить ставку/горизонт флагами --discount-rate 0.07 --horizon 15; показать новый расчёт (не путать его с финальным10%/10 лет). Для видимого FAIL: python evaluate.py ARCTIC:A SSA:A FIRE:A FLOOD:A --constraints-only; инструмент показывает порог, факт, запас, PASS/FAIL. Веса восьми диагностических критериев меняются через --weights без правки кода; это другой сохранённый score, не веса трёх блоков финального выбора. При демонстрации новой D3-конфигурации отдельно проверить допуск механизма из user_modes/pareto_search, так как evaluate.py сам не отклоняет все несовместимые назначения D3.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Т4: оба сценария одного портфеля печатаются рядом, полный фронт и альтернативы доступны в PARETO_FRONT.md и автономном HTML test-main/output/pareto_front.html. Т5: Python,pandas,numpy; после установки зависимостей расчёт офлайн, без API-ключей/регистрации/оплаты. RUN.md содержит точные команды запуска и воспроизведения. Для защиты требуется именно живое изменение входов и пересчёт, слайд его не заменяет.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Решение на утверждение: портфель №10 и предлагаемая схема капитального финансирования1104; до закупки подтвердить смету D3, распределение затрат, совместимость требований, плательщиков и паспорт доступа. Запас76 по официальному STRESS;38,2 при провале ожидаемой экономии с сохранением координационных расходов. Не объявлять, что D3 уже подтверждён или договоры заключены.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Материалы проекта: ЗАПИСКА.md; СТРЕСС-РЕЗЮМЕ.md; САМООЦЕНКА.md (самооценка команды, не официальный результат жюри); PARETO_FRONT.md; исходные данные/конфигурация/код; RUN.md. Официальный комплект размещается командой в GitVerse по требованиям задания.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ИСТОЧНИКИ: ЗАПИСКА.md, Т1–Т5 и приложения; test-main/RUN.md, tests.py,evaluate.py,pareto_search.py; официальные постановка/критерии. Версия исходных материалов: репозиторий 0c3ede2, 12.09.2026.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0b5dc5fbd3482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7521ca063f40f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088b76313e434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3f6b1337eb477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5bd965422f4f4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005697b81f4ba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2909e00abc446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4a5667c4d1497c" /></Relationships>
</file>

<file path=ppt/slideLayouts/slideLayout1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3004A5-B645-655E-5362-4217D55892E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1041400"/>
            <a:ext cx="7493000" cy="249149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6000" b="1" i="0">
                <a:latin typeface="Lora SemiBold"/>
                <a:ea typeface="Lora SemiBold"/>
                <a:cs typeface="Lora SemiBold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57031B1-59B2-C235-9FDD-8050418A5FD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4356100"/>
            <a:ext cx="5537200" cy="16383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851FDE-9E0B-568C-1CBA-E72B86CC06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CCD18F-3BF6-A3EE-DAAE-66BD406D7E8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699" y="6279294"/>
            <a:ext cx="8129411" cy="24189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0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86992D-ADA6-5A23-EBD5-6BEF0A2E61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DBB333F-FFCF-AA9E-7AC0-64DB02353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DCC3060-FADA-4310-30F9-24EC34B5AA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7B047-08E6-29C1-F101-C084D555AAC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294"/>
            <a:ext cx="8705144" cy="24189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E564C6-8AA0-935D-A919-07AFA15B335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12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BE46D3-8F05-1C7F-3EC7-20BFCC76C251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39D2C21-36BF-25E7-8E97-1D17F313F7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294"/>
            <a:ext cx="7493000" cy="24189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14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E090C5-E6C8-92F2-E8C2-A840B8F1807D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5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C6D2D15-AEC2-9F99-316F-C37AF863965D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4826000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699" y="6279294"/>
            <a:ext cx="8466647" cy="24189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8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4F70A9DA-D783-0627-3166-E13B68C2ADA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334966" y="4826000"/>
            <a:ext cx="2595934" cy="11684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BF2647-8E8C-CAEE-896D-0E1567AF7E99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264413" y="4826000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0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37C6F143-221A-9959-8FBA-B9B1DB6602D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9205679" y="4826000"/>
            <a:ext cx="2595934" cy="11684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1182C5-F22B-2641-06DE-4EDACA3C1D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699" y="6279294"/>
            <a:ext cx="7361767" cy="24189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7A4AD5-204B-38FD-4F33-270C2F9F5CC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5CF9983-3FD7-FAE4-9F0B-B2CE806D89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12CBCC-C555-8C11-443D-86D6F7A45C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294"/>
            <a:ext cx="7587544" cy="24189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8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9B260B-B882-BF7F-1BB1-28B9578A25A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bc47c4864b74faa" /><Relationship Type="http://schemas.openxmlformats.org/officeDocument/2006/relationships/slideLayout" Target="/ppt/slideLayouts/slideLayout1.xml" Id="R51a383c1666d4c6d" /><Relationship Type="http://schemas.openxmlformats.org/officeDocument/2006/relationships/slideLayout" Target="/ppt/slideLayouts/slideLayout2.xml" Id="R7ef2c07a15a14c07" /><Relationship Type="http://schemas.openxmlformats.org/officeDocument/2006/relationships/slideLayout" Target="/ppt/slideLayouts/slideLayout3.xml" Id="Rc4361f96ce514ee8" /><Relationship Type="http://schemas.openxmlformats.org/officeDocument/2006/relationships/slideLayout" Target="/ppt/slideLayouts/slideLayout4.xml" Id="Re7674b4575dc434c" /><Relationship Type="http://schemas.openxmlformats.org/officeDocument/2006/relationships/slideLayout" Target="/ppt/slideLayouts/slideLayout5.xml" Id="R8ba0c4391db6439f" /><Relationship Type="http://schemas.openxmlformats.org/officeDocument/2006/relationships/slideLayout" Target="/ppt/slideLayouts/slideLayout6.xml" Id="R98e2ea9eb6ca4e93" /><Relationship Type="http://schemas.openxmlformats.org/officeDocument/2006/relationships/slideLayout" Target="/ppt/slideLayouts/slideLayout7.xml" Id="Ree89b07493404e30" /><Relationship Type="http://schemas.openxmlformats.org/officeDocument/2006/relationships/slideLayout" Target="/ppt/slideLayouts/slideLayout8.xml" Id="R95f473fd394e4458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B87ED2E-D8FF-5C8C-ED50-59BA3091C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B0E1CB-6DCA-2E9F-2B74-4309B4084C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75650C-2983-5B02-8421-FF181843543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294"/>
            <a:ext cx="7531100" cy="24189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872C88C-1AB3-96BA-C9E5-3435A4BD59B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a383c1666d4c6d"/>
    <p:sldLayoutId xmlns:r="http://schemas.openxmlformats.org/officeDocument/2006/relationships" id="2147483650" r:id="R7ef2c07a15a14c07"/>
    <p:sldLayoutId xmlns:r="http://schemas.openxmlformats.org/officeDocument/2006/relationships" id="2147483651" r:id="Rc4361f96ce514ee8"/>
    <p:sldLayoutId xmlns:r="http://schemas.openxmlformats.org/officeDocument/2006/relationships" id="2147483652" r:id="Re7674b4575dc434c"/>
    <p:sldLayoutId xmlns:r="http://schemas.openxmlformats.org/officeDocument/2006/relationships" id="2147483653" r:id="R8ba0c4391db6439f"/>
    <p:sldLayoutId xmlns:r="http://schemas.openxmlformats.org/officeDocument/2006/relationships" id="2147483654" r:id="R98e2ea9eb6ca4e93"/>
    <p:sldLayoutId xmlns:r="http://schemas.openxmlformats.org/officeDocument/2006/relationships" id="2147483655" r:id="Ree89b07493404e30"/>
    <p:sldLayoutId xmlns:r="http://schemas.openxmlformats.org/officeDocument/2006/relationships" id="2147483656" r:id="R95f473fd394e4458"/>
  </p:sldLayoutIdLst>
  <p:hf hd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2900" b="1" i="0" kern="1200">
          <a:solidFill>
            <a:schemeClr val="tx1"/>
          </a:solidFill>
          <a:latin typeface="Lora SemiBold"/>
          <a:ea typeface="Lora SemiBold"/>
          <a:cs typeface="Lora SemiBold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xmlns:a="http://schemas.openxmlformats.org/drawingml/2006/main" val="F26B43"/>
          </p15:clr>
        </p15:guide>
        <p15:guide id="2" pos="7680" userDrawn="1">
          <p15:clr>
            <a:srgbClr xmlns:a="http://schemas.openxmlformats.org/drawingml/2006/main" val="F26B43"/>
          </p15:clr>
        </p15:guide>
        <p15:guide id="3" pos="248" userDrawn="1">
          <p15:clr>
            <a:srgbClr xmlns:a="http://schemas.openxmlformats.org/drawingml/2006/main" val="F26B43"/>
          </p15:clr>
        </p15:guide>
        <p15:guide id="4" pos="1264" userDrawn="1">
          <p15:clr>
            <a:srgbClr xmlns:a="http://schemas.openxmlformats.org/drawingml/2006/main" val="F26B43"/>
          </p15:clr>
        </p15:guide>
        <p15:guide id="5" pos="1480" userDrawn="1">
          <p15:clr>
            <a:srgbClr xmlns:a="http://schemas.openxmlformats.org/drawingml/2006/main" val="F26B43"/>
          </p15:clr>
        </p15:guide>
        <p15:guide id="6" pos="2520" userDrawn="1">
          <p15:clr>
            <a:srgbClr xmlns:a="http://schemas.openxmlformats.org/drawingml/2006/main" val="F26B43"/>
          </p15:clr>
        </p15:guide>
        <p15:guide id="7" pos="2712" userDrawn="1">
          <p15:clr>
            <a:srgbClr xmlns:a="http://schemas.openxmlformats.org/drawingml/2006/main" val="F26B43"/>
          </p15:clr>
        </p15:guide>
        <p15:guide id="8" pos="3736" userDrawn="1">
          <p15:clr>
            <a:srgbClr xmlns:a="http://schemas.openxmlformats.org/drawingml/2006/main" val="F26B43"/>
          </p15:clr>
        </p15:guide>
        <p15:guide id="9" pos="3944" userDrawn="1">
          <p15:clr>
            <a:srgbClr xmlns:a="http://schemas.openxmlformats.org/drawingml/2006/main" val="F26B43"/>
          </p15:clr>
        </p15:guide>
        <p15:guide id="10" pos="4968" userDrawn="1">
          <p15:clr>
            <a:srgbClr xmlns:a="http://schemas.openxmlformats.org/drawingml/2006/main" val="F26B43"/>
          </p15:clr>
        </p15:guide>
        <p15:guide id="11" pos="5184" userDrawn="1">
          <p15:clr>
            <a:srgbClr xmlns:a="http://schemas.openxmlformats.org/drawingml/2006/main" val="F26B43"/>
          </p15:clr>
        </p15:guide>
        <p15:guide id="12" pos="6200" userDrawn="1">
          <p15:clr>
            <a:srgbClr xmlns:a="http://schemas.openxmlformats.org/drawingml/2006/main" val="F26B43"/>
          </p15:clr>
        </p15:guide>
        <p15:guide id="13" pos="6416" userDrawn="1">
          <p15:clr>
            <a:srgbClr xmlns:a="http://schemas.openxmlformats.org/drawingml/2006/main" val="F26B43"/>
          </p15:clr>
        </p15:guide>
        <p15:guide id="14" pos="7432" userDrawn="1">
          <p15:clr>
            <a:srgbClr xmlns:a="http://schemas.openxmlformats.org/drawingml/2006/main" val="F26B43"/>
          </p15:clr>
        </p15:guide>
        <p15:guide id="15" orient="horz" userDrawn="1">
          <p15:clr>
            <a:srgbClr xmlns:a="http://schemas.openxmlformats.org/drawingml/2006/main" val="F26B43"/>
          </p15:clr>
        </p15:guide>
        <p15:guide id="17" orient="horz" pos="248" userDrawn="1">
          <p15:clr>
            <a:srgbClr xmlns:a="http://schemas.openxmlformats.org/drawingml/2006/main" val="F26B43"/>
          </p15:clr>
        </p15:guide>
        <p15:guide id="18" orient="horz" pos="656" userDrawn="1">
          <p15:clr>
            <a:srgbClr xmlns:a="http://schemas.openxmlformats.org/drawingml/2006/main" val="F26B43"/>
          </p15:clr>
        </p15:guide>
        <p15:guide id="19" orient="horz" pos="872" userDrawn="1">
          <p15:clr>
            <a:srgbClr xmlns:a="http://schemas.openxmlformats.org/drawingml/2006/main" val="F26B43"/>
          </p15:clr>
        </p15:guide>
        <p15:guide id="20" orient="horz" pos="1280" userDrawn="1">
          <p15:clr>
            <a:srgbClr xmlns:a="http://schemas.openxmlformats.org/drawingml/2006/main" val="F26B43"/>
          </p15:clr>
        </p15:guide>
        <p15:guide id="21" orient="horz" pos="1496" userDrawn="1">
          <p15:clr>
            <a:srgbClr xmlns:a="http://schemas.openxmlformats.org/drawingml/2006/main" val="F26B43"/>
          </p15:clr>
        </p15:guide>
        <p15:guide id="22" orient="horz" pos="1904" userDrawn="1">
          <p15:clr>
            <a:srgbClr xmlns:a="http://schemas.openxmlformats.org/drawingml/2006/main" val="F26B43"/>
          </p15:clr>
        </p15:guide>
        <p15:guide id="23" orient="horz" pos="2120" userDrawn="1">
          <p15:clr>
            <a:srgbClr xmlns:a="http://schemas.openxmlformats.org/drawingml/2006/main" val="F26B43"/>
          </p15:clr>
        </p15:guide>
        <p15:guide id="24" orient="horz" pos="2528" userDrawn="1">
          <p15:clr>
            <a:srgbClr xmlns:a="http://schemas.openxmlformats.org/drawingml/2006/main" val="F26B43"/>
          </p15:clr>
        </p15:guide>
        <p15:guide id="25" orient="horz" pos="2744" userDrawn="1">
          <p15:clr>
            <a:srgbClr xmlns:a="http://schemas.openxmlformats.org/drawingml/2006/main" val="F26B43"/>
          </p15:clr>
        </p15:guide>
        <p15:guide id="26" orient="horz" pos="3152" userDrawn="1">
          <p15:clr>
            <a:srgbClr xmlns:a="http://schemas.openxmlformats.org/drawingml/2006/main" val="F26B43"/>
          </p15:clr>
        </p15:guide>
        <p15:guide id="27" orient="horz" pos="3368" userDrawn="1">
          <p15:clr>
            <a:srgbClr xmlns:a="http://schemas.openxmlformats.org/drawingml/2006/main" val="F26B43"/>
          </p15:clr>
        </p15:guide>
        <p15:guide id="28" orient="horz" pos="3776" userDrawn="1">
          <p15:clr>
            <a:srgbClr xmlns:a="http://schemas.openxmlformats.org/drawingml/2006/main" val="F26B43"/>
          </p15:clr>
        </p15:guide>
        <p15:guide id="29" orient="horz" pos="4088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Default Codex Theme">
  <a:themeElements>
    <a:clrScheme name="Theme 2">
      <a:dk1>
        <a:srgbClr val="000000"/>
      </a:dk1>
      <a:lt1>
        <a:srgbClr val="FFFFFF"/>
      </a:lt1>
      <a:dk2>
        <a:srgbClr val="0E2841"/>
      </a:dk2>
      <a:lt2>
        <a:srgbClr val="FAFCFE"/>
      </a:lt2>
      <a:accent1>
        <a:srgbClr val="3357B8"/>
      </a:accent1>
      <a:accent2>
        <a:srgbClr val="CFD2D9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Lora Roboto">
      <a:majorFont>
        <a:latin typeface="Lora"/>
        <a:ea typeface=""/>
        <a:cs typeface=""/>
      </a:majorFont>
      <a:minorFont>
        <a:latin typeface="Roboto"/>
        <a:ea typeface=""/>
        <a:cs typeface=""/>
      </a:minorFont>
    </a:fontScheme>
    <a:fmtScheme name="Theme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85b3592afc4a64" /><Relationship Type="http://schemas.openxmlformats.org/officeDocument/2006/relationships/notesSlide" Target="/ppt/notesSlides/notesSlide1.xml" Id="Rffbd22bd340846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7e1e3a0eb04fbd" /><Relationship Type="http://schemas.openxmlformats.org/officeDocument/2006/relationships/notesSlide" Target="/ppt/notesSlides/notesSlide2.xml" Id="R87651a4accc04e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eab5029d1a409f" /><Relationship Type="http://schemas.openxmlformats.org/officeDocument/2006/relationships/notesSlide" Target="/ppt/notesSlides/notesSlide3.xml" Id="R8bf3b2cecbef4d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c595a15e7f4517" /><Relationship Type="http://schemas.openxmlformats.org/officeDocument/2006/relationships/notesSlide" Target="/ppt/notesSlides/notesSlide4.xml" Id="R57ab83996d2241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7a607412a54f32" /><Relationship Type="http://schemas.openxmlformats.org/officeDocument/2006/relationships/notesSlide" Target="/ppt/notesSlides/notesSlide5.xml" Id="R878d344d48dc46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7683020e584b03" /><Relationship Type="http://schemas.openxmlformats.org/officeDocument/2006/relationships/chart" Target="/ppt/slides/charts/chart1.xml" Id="Rb205a4b9d88d437a" /><Relationship Type="http://schemas.openxmlformats.org/officeDocument/2006/relationships/notesSlide" Target="/ppt/notesSlides/notesSlide6.xml" Id="R8fabaf1a4cfe4d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6190ae1c4243a3" /><Relationship Type="http://schemas.openxmlformats.org/officeDocument/2006/relationships/notesSlide" Target="/ppt/notesSlides/notesSlide7.xml" Id="R0a3cd8c2cfa14b7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e47987ae624f4f" /><Relationship Type="http://schemas.openxmlformats.org/officeDocument/2006/relationships/notesSlide" Target="/ppt/notesSlides/notesSlide8.xml" Id="Ra3eae38b513746e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78a575c6f544a7" /><Relationship Type="http://schemas.openxmlformats.org/officeDocument/2006/relationships/notesSlide" Target="/ppt/notesSlides/notesSlide9.xml" Id="R73f0f6600d42407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bbf033e35b4e91" /><Relationship Type="http://schemas.openxmlformats.org/officeDocument/2006/relationships/notesSlide" Target="/ppt/notesSlides/notesSlide10.xml" Id="Ra00c30aba7524e8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bb6433b0a9e04ce4" /><Relationship Type="http://schemas.openxmlformats.org/officeDocument/2006/relationships/notesSlide" Target="/ppt/notesSlides/notesSlide11.xml" Id="R97d4c7373b65449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345d2ce3914fe8" /><Relationship Type="http://schemas.openxmlformats.org/officeDocument/2006/relationships/notesSlide" Target="/ppt/notesSlides/notesSlide12.xml" Id="R1d1e9d2205c94fe9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Млн руб. в год</c:v>
          </c:tx>
          <c:spPr>
            <a:solidFill xmlns:a="http://schemas.openxmlformats.org/drawingml/2006/main">
              <a:srgbClr val="3357B8"/>
            </a:solidFill>
          </c:spPr>
          <c:dPt>
            <c:idx val="1"/>
            <c:invertIfNegative val="0"/>
            <c:spPr>
              <a:solidFill xmlns:a="http://schemas.openxmlformats.org/drawingml/2006/main">
                <a:srgbClr val="A7B5D6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357B8"/>
              </a:solidFill>
            </c:spPr>
          </c:dPt>
          <c:cat>
            <c:strRef>
              <c:f>'Chart Data'!$A$2:$A$4</c:f>
              <c:strCache>
                <c:ptCount val="3"/>
                <c:pt idx="0">
                  <c:v>Поступления</c:v>
                </c:pt>
                <c:pt idx="1">
                  <c:v>OPEX</c:v>
                </c:pt>
                <c:pt idx="2">
                  <c:v>Остаток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398</c:v>
                </c:pt>
                <c:pt idx="1">
                  <c:v>300.55</c:v>
                </c:pt>
                <c:pt idx="2">
                  <c:v>97.45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 b="1">
                  <a:solidFill>
                    <a:srgbClr val="3357B8"/>
                  </a:solidFill>
                  <a:latin typeface="Roboto"/>
                  <a:ea typeface="Roboto"/>
                  <a:cs typeface="Robot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FD2D9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</a:p>
        </c:txPr>
        <c:crossAx val="48672768"/>
      </c:catAx>
      <c:valAx>
        <c:axId val="48672768"/>
        <c:scaling>
          <c:orientation val="minMax"/>
          <c:max val="450"/>
          <c:min val="0"/>
        </c:scaling>
        <c:delete val="0"/>
        <c:axPos val="l"/>
        <c:majorGridlines>
          <c:spPr>
            <a:ln xmlns:a="http://schemas.openxmlformats.org/drawingml/2006/main" w="6668">
              <a:solidFill>
                <a:srgbClr val="DFE4EB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172"/>
                </a:solidFill>
                <a:latin typeface="Roboto"/>
                <a:ea typeface="Roboto"/>
                <a:cs typeface="Roboto"/>
              </a:defRPr>
            </a:pPr>
          </a:p>
        </c:txPr>
        <c:crossAx val="48650112"/>
        <c:crossBetween val="between"/>
        <c:majorUnit val="100"/>
      </c:valAx>
      <c:spPr>
        <a:solidFill xmlns:a="http://schemas.openxmlformats.org/drawingml/2006/main">
          <a:srgbClr val="FAFCFE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AFCFE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706809B0-D483-45C1-B580-B57BB5CC520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71500" y="1362075"/>
            <a:ext cx="10858500" cy="2038350"/>
          </a:xfr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175" b="0">
                <a:solidFill>
                  <a:srgbClr val="3357B8"/>
                </a:solidFill>
                <a:latin typeface="Lora Medium"/>
                <a:ea typeface="Lora Medium"/>
                <a:cs typeface="Lora Medium"/>
              </a:defRPr>
            </a:pPr>
            <a:r>
              <a:rPr sz="5175" b="0">
                <a:solidFill>
                  <a:srgbClr val="3357B8"/>
                </a:solidFill>
                <a:latin typeface="Lora Medium"/>
                <a:ea typeface="Lora Medium"/>
                <a:cs typeface="Lora Medium"/>
              </a:rPr>
              <a:t>Космос как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175" b="0">
                <a:solidFill>
                  <a:srgbClr val="3357B8"/>
                </a:solidFill>
                <a:latin typeface="Lora Medium"/>
                <a:ea typeface="Lora Medium"/>
                <a:cs typeface="Lora Medium"/>
              </a:defRPr>
            </a:pPr>
            <a:r>
              <a:rPr sz="5175" b="0">
                <a:solidFill>
                  <a:srgbClr val="3357B8"/>
                </a:solidFill>
                <a:latin typeface="Lora Medium"/>
                <a:ea typeface="Lora Medium"/>
                <a:cs typeface="Lora Medium"/>
              </a:rPr>
              <a:t>инфраструктура</a:t>
            </a:r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7DD11E6E-01C0-D6E4-28D7-D7F6B94AF61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0075" y="5029200"/>
            <a:ext cx="6819900" cy="11525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8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Общественное ядро для Сибири и Волго-Каспия.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8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Коммерческие сервисы для Юга и Центра.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8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Выбранный портфель №10 · расчёт 12.09.2026</a:t>
            </a:r>
          </a:p>
        </p:txBody>
      </p:sp>
      <p:sp>
        <p:nvSpPr>
          <p:cNvPr id="6" name="Subtitle 4">
            <a:extLst xmlns:a="http://schemas.openxmlformats.org/drawingml/2006/main">
              <a:ext uri="{FF2B5EF4-FFF2-40B4-BE49-F238E27FC236}">
                <a16:creationId xmlns:a16="http://schemas.microsoft.com/office/drawing/2014/main" id="{C66AB198-0518-67DE-AB81-D65264FD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41007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7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FIRE:D3  ·  AGRI:C  ·  TRANS:C  ·  ENV:D3</a:t>
            </a:r>
          </a:p>
        </p:txBody>
      </p:sp>
      <p:sp>
        <p:nvSpPr>
          <p:cNvPr id="10" name="Subtitle 4">
            <a:extLst xmlns:a="http://schemas.openxmlformats.org/drawingml/2006/main">
              <a:ext uri="{FF2B5EF4-FFF2-40B4-BE49-F238E27FC236}">
                <a16:creationId xmlns:a16="http://schemas.microsoft.com/office/drawing/2014/main" id="{CC2E0538-5645-7BC8-CF3A-FDF31FD9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018" y="555606"/>
            <a:ext cx="3578411" cy="34517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800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КосмоХакатон 2026</a:t>
            </a:r>
          </a:p>
        </p:txBody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01393D92-F72C-410C-9DC7-059134605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3260" y="3934067"/>
            <a:ext cx="12558520" cy="0"/>
          </a:xfrm>
          <a:prstGeom xmlns:a="http://schemas.openxmlformats.org/drawingml/2006/main" prst="line">
            <a:avLst/>
          </a:prstGeom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1" name="Capital number">
            <a:extLst xmlns:a="http://schemas.openxmlformats.org/drawingml/2006/main">
              <a:ext uri="{FF2B5EF4-FFF2-40B4-BE49-F238E27FC236}">
                <a16:creationId xmlns:a16="http://schemas.microsoft.com/office/drawing/2014/main" id="{337D7358-7939-425C-A0B5-AC2F0610A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962525"/>
            <a:ext cx="3095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397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397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1 104</a:t>
            </a:r>
          </a:p>
        </p:txBody>
      </p:sp>
      <p:sp>
        <p:nvSpPr>
          <p:cNvPr id="12" name="Capital unit">
            <a:extLst xmlns:a="http://schemas.openxmlformats.org/drawingml/2006/main">
              <a:ext uri="{FF2B5EF4-FFF2-40B4-BE49-F238E27FC236}">
                <a16:creationId xmlns:a16="http://schemas.microsoft.com/office/drawing/2014/main" id="{429874CB-E3BB-4089-8D7F-A15542A1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62927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 b="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млн руб. на запуск</a:t>
            </a:r>
          </a:p>
        </p:txBody>
      </p:sp>
      <p:sp>
        <p:nvSpPr>
          <p:cNvPr id="13" name="Rubric/source label">
            <a:extLst xmlns:a="http://schemas.openxmlformats.org/drawingml/2006/main">
              <a:ext uri="{FF2B5EF4-FFF2-40B4-BE49-F238E27FC236}">
                <a16:creationId xmlns:a16="http://schemas.microsoft.com/office/drawing/2014/main" id="{02A0CAA9-0229-4A12-B8F3-4A18BE729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47700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536172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536172"/>
                </a:solidFill>
                <a:latin typeface="Roboto"/>
                <a:ea typeface="Roboto"/>
                <a:cs typeface="Roboto"/>
              </a:rPr>
              <a:t>Результат актуальной ЗАПИСКА.md · исходные данные кейса и допущения команды</a:t>
            </a:r>
          </a:p>
        </p:txBody>
      </p:sp>
    </p:spTree>
    <p:extLst>
      <p:ext uri="{BB962C8B-B14F-4D97-AF65-F5344CB8AC3E}">
        <p14:creationId xmlns:p14="http://schemas.microsoft.com/office/powerpoint/2010/main" val="168508855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CAD38C25-48AC-5A29-D53A-82080FAF926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525250" y="6467475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9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9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2</a:t>
            </a:r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33E8FE18-95DE-C7EA-9E95-10B8218936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668" y="333375"/>
            <a:ext cx="11404568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850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Четыре региона — четыре потребности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E3149F3-A7D7-BC8F-C84C-4A4E60EA2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2" y="253749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noFill xmlns:a="http://schemas.openxmlformats.org/drawingml/2006/main"/>
          <a:ln xmlns:a="http://schemas.openxmlformats.org/drawingml/2006/main" w="12700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5CD1077A-BBDF-3B07-D940-FA5482CB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043" y="253749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noFill xmlns:a="http://schemas.openxmlformats.org/drawingml/2006/main"/>
          <a:ln xmlns:a="http://schemas.openxmlformats.org/drawingml/2006/main" w="12700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1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B54A841D-1EA0-6181-C778-7C851CA6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9925"/>
            <a:ext cx="5000625" cy="847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Пожарные службы и лесничества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Ранние очаги → мобилизация сил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Ожидаемый эффект: снижение ущерба</a:t>
            </a:r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B4E203EC-EB81-96EF-66AB-3B6012B4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2" y="437010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noFill xmlns:a="http://schemas.openxmlformats.org/drawingml/2006/main"/>
          <a:ln xmlns:a="http://schemas.openxmlformats.org/drawingml/2006/main" w="12700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000F722-C0CE-FDAF-EAFE-20BC4A7F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043" y="437010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noFill xmlns:a="http://schemas.openxmlformats.org/drawingml/2006/main"/>
          <a:ln xmlns:a="http://schemas.openxmlformats.org/drawingml/2006/main" w="12700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11" name="Footer Placeholder 10">
            <a:extLst xmlns:a="http://schemas.openxmlformats.org/drawingml/2006/main">
              <a:ext uri="{FF2B5EF4-FFF2-40B4-BE49-F238E27FC236}">
                <a16:creationId xmlns:a16="http://schemas.microsoft.com/office/drawing/2014/main" id="{A4694142-7504-448C-B110-ABCB1A6DD41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  <p:sp>
        <p:nvSpPr>
          <p:cNvPr id="12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F393FB38-1005-6250-1642-93C1A76E0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1649094"/>
            <a:ext cx="11404600" cy="6340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Польза возникает, когда данные помогают принять решение. VPUB — условная оценка эффекта,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а не выручка. Фактические эффекты и результаты пилотов в кейсе не измерены.</a:t>
            </a:r>
          </a:p>
        </p:txBody>
      </p:sp>
      <p:sp>
        <p:nvSpPr>
          <p:cNvPr id="13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A0F4C075-109A-7DDE-18C9-18F128552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99" y="1146566"/>
            <a:ext cx="11404599" cy="40244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20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Выбираем сервис вместе с его получателем и действием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9DCE927-F1A4-A9ED-C839-844BB688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67" y="2793808"/>
            <a:ext cx="4986886" cy="3072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800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Сибирь · FIRE · D3</a:t>
            </a:r>
          </a:p>
        </p:txBody>
      </p:sp>
      <p:sp>
        <p:nvSpPr>
          <p:cNvPr id="16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B71DDDF3-A6F6-A2D9-7F68-A246AE82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09925"/>
            <a:ext cx="5000625" cy="847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Хозяйства и агрохолдинги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Мониторинг полей → точные решения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Ожидаемый эффект: экономия ресурсов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AD06467-8163-39A0-0B9A-1A98533B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5127" y="2793808"/>
            <a:ext cx="4986886" cy="3072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800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Юг · AGRI · C</a:t>
            </a:r>
          </a:p>
        </p:txBody>
      </p:sp>
      <p:sp>
        <p:nvSpPr>
          <p:cNvPr id="1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61F5831-A6CA-0036-3E5C-283D4EBA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48250"/>
            <a:ext cx="5000625" cy="847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Транспортные и логистические операторы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Мониторинг потоков → управление движением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Ожидаемый эффект: меньше заторов и аварий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83300B-2E76-54E3-B3E8-C4CE0DA32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67" y="4637848"/>
            <a:ext cx="4986886" cy="3072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800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Центр · TRANS · C</a:t>
            </a:r>
          </a:p>
        </p:txBody>
      </p:sp>
      <p:sp>
        <p:nvSpPr>
          <p:cNvPr id="2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1E87E4E-34C4-73A3-D9B4-5528035E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048250"/>
            <a:ext cx="5000625" cy="847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Экологические службы и население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Загрязнение → предупреждение и реагирование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Ожидаемый эффект: снижение экориска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BBBD727-79F1-2502-A083-A18F5A75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5127" y="4637848"/>
            <a:ext cx="4986886" cy="3072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800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Волго-Каспий · ENV · D3</a:t>
            </a:r>
          </a:p>
        </p:txBody>
      </p:sp>
      <p:sp>
        <p:nvSpPr>
          <p:cNvPr id="534" name="Rubric/source label">
            <a:extLst xmlns:a="http://schemas.openxmlformats.org/drawingml/2006/main">
              <a:ext uri="{FF2B5EF4-FFF2-40B4-BE49-F238E27FC236}">
                <a16:creationId xmlns:a16="http://schemas.microsoft.com/office/drawing/2014/main" id="{04667C69-8675-448E-A68A-205B68B4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47700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536172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536172"/>
                </a:solidFill>
                <a:latin typeface="Roboto"/>
                <a:ea typeface="Roboto"/>
                <a:cs typeface="Roboto"/>
              </a:rPr>
              <a:t>П1 · D3: бесплатное общественное ядро. C: платный сервис, 62% исходного VPUB.</a:t>
            </a:r>
          </a:p>
        </p:txBody>
      </p:sp>
    </p:spTree>
    <p:extLst>
      <p:ext uri="{BB962C8B-B14F-4D97-AF65-F5344CB8AC3E}">
        <p14:creationId xmlns:p14="http://schemas.microsoft.com/office/powerpoint/2010/main" val="217953532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D6AD4425-62A5-20FE-DA81-DB0262F8E9D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525250" y="6467475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9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9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3</a:t>
            </a:r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CCB3C549-3412-D9EC-FC96-8C0EA25A43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668" y="333375"/>
            <a:ext cx="11404568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850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Модель: деньги, общественная польза, качество</a:t>
            </a:r>
          </a:p>
        </p:txBody>
      </p:sp>
      <p:sp>
        <p:nvSpPr>
          <p:cNvPr id="11" name="Footer Placeholder 10">
            <a:extLst xmlns:a="http://schemas.openxmlformats.org/drawingml/2006/main">
              <a:ext uri="{FF2B5EF4-FFF2-40B4-BE49-F238E27FC236}">
                <a16:creationId xmlns:a16="http://schemas.microsoft.com/office/drawing/2014/main" id="{BD5D3365-630B-7DA2-6578-D2DE7ACBBC0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  <p:sp>
        <p:nvSpPr>
          <p:cNvPr id="3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076E58D8-94E3-59EF-6F5D-94479531D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00300"/>
            <a:ext cx="5534025" cy="3571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8 лотов → 4 выбранных лота и их режимы.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5 коэффициентов меняют C0, OPEX, VPUB,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якорные и коммерческие поступления.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CASH = anchor + commercial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Остаток = CASH − OPEX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kcash = CASH / OPEX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Ставка 10%, горизонт 10 лет, постоянные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потоки — допущения команды.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Исходный канонический расчёт сохранён.</a:t>
            </a:r>
          </a:p>
        </p:txBody>
      </p:sp>
      <p:sp>
        <p:nvSpPr>
          <p:cNvPr id="5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EC39CC4A-7702-F34C-BFC1-C34643FFF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1436666"/>
            <a:ext cx="5537200" cy="71931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100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Из данных организаторов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100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в показатели портфеля</a:t>
            </a:r>
          </a:p>
        </p:txBody>
      </p:sp>
      <p:sp>
        <p:nvSpPr>
          <p:cNvPr id="27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B4FA777D-1E43-2118-018B-D684DB7E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104" y="2184252"/>
            <a:ext cx="5014766" cy="5975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Сумма z(NPV), z(PI), z(kcash).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Возврат капитала и покрытие эксплуатации.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F2F01BD9-1359-C69B-3F1A-A3653422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793" y="1813255"/>
            <a:ext cx="501476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7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Деньги · F_fin</a:t>
            </a:r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3C99D68F-34ED-A722-D7DB-03942B0B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5842" y="1521935"/>
            <a:ext cx="5394187" cy="1393857"/>
          </a:xfrm>
          <a:prstGeom xmlns:a="http://schemas.openxmlformats.org/drawingml/2006/main" prst="roundRect">
            <a:avLst>
              <a:gd name="adj" fmla="val 3585"/>
            </a:avLst>
          </a:prstGeom>
          <a:noFill xmlns:a="http://schemas.openxmlformats.org/drawingml/2006/main"/>
          <a:ln xmlns:a="http://schemas.openxmlformats.org/drawingml/2006/main" w="12700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4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32674159-B6E6-B9EF-D753-5EF1E687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104" y="3693012"/>
            <a:ext cx="5014766" cy="5975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Сумма z(VPUB), z(SROI), z(доли ядра).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Общественная оценка отделена от CASH.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7D84212-7716-6AFC-2CCA-1118E418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793" y="3322015"/>
            <a:ext cx="501476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7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Общественная польза · F_public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520BED9B-3AD0-B986-23FF-346EFF8E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5842" y="3030695"/>
            <a:ext cx="5394187" cy="1393857"/>
          </a:xfrm>
          <a:prstGeom xmlns:a="http://schemas.openxmlformats.org/drawingml/2006/main" prst="roundRect">
            <a:avLst>
              <a:gd name="adj" fmla="val 3585"/>
            </a:avLst>
          </a:prstGeom>
          <a:noFill xmlns:a="http://schemas.openxmlformats.org/drawingml/2006/main"/>
          <a:ln xmlns:a="http://schemas.openxmlformats.org/drawingml/2006/main" w="12700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58865802-6967-7210-3371-DEA6828B5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105" y="5201772"/>
            <a:ext cx="5014766" cy="5975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Сумма z(t_rep), z(готовности),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z(устойчивости), z(тиражируемости).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D2FEB2E-B2D7-376B-AFC1-B25E2E37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794" y="4830775"/>
            <a:ext cx="501476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7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Качество · F_quality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95C5540-5014-B354-3651-51BA1275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5843" y="4539455"/>
            <a:ext cx="5394187" cy="1393857"/>
          </a:xfrm>
          <a:prstGeom xmlns:a="http://schemas.openxmlformats.org/drawingml/2006/main" prst="roundRect">
            <a:avLst>
              <a:gd name="adj" fmla="val 3585"/>
            </a:avLst>
          </a:prstGeom>
          <a:noFill xmlns:a="http://schemas.openxmlformats.org/drawingml/2006/main"/>
          <a:ln xmlns:a="http://schemas.openxmlformats.org/drawingml/2006/main" w="12700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534" name="Rubric/source label">
            <a:extLst xmlns:a="http://schemas.openxmlformats.org/drawingml/2006/main">
              <a:ext uri="{FF2B5EF4-FFF2-40B4-BE49-F238E27FC236}">
                <a16:creationId xmlns:a16="http://schemas.microsoft.com/office/drawing/2014/main" id="{DC232BC7-BEC4-4742-8DE3-EC949AA4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47700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536172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536172"/>
                </a:solidFill>
                <a:latin typeface="Roboto"/>
                <a:ea typeface="Roboto"/>
                <a:cs typeface="Roboto"/>
              </a:rPr>
              <a:t>П2 · z = minmax по 1 056 допустимым портфелям. Качество зависит от состава, а не режима.</a:t>
            </a:r>
          </a:p>
        </p:txBody>
      </p:sp>
    </p:spTree>
    <p:extLst>
      <p:ext uri="{BB962C8B-B14F-4D97-AF65-F5344CB8AC3E}">
        <p14:creationId xmlns:p14="http://schemas.microsoft.com/office/powerpoint/2010/main" val="336614037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1">
            <a:extLst xmlns:a="http://schemas.openxmlformats.org/drawingml/2006/main">
              <a:ext uri="{FF2B5EF4-FFF2-40B4-BE49-F238E27FC236}">
                <a16:creationId xmlns:a16="http://schemas.microsoft.com/office/drawing/2014/main" id="{3108432E-6CC9-7470-65A5-7F6A330EFB4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525250" y="6467475"/>
            <a:ext cx="266700" cy="228600"/>
          </a:xfr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9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9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4</a:t>
            </a:r>
          </a:p>
        </p:txBody>
      </p:sp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40BD946D-556A-ECA8-679C-19ABE963A4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668" y="333375"/>
            <a:ext cx="11404568" cy="619125"/>
          </a:xfr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850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Из 60 вариантов выбран портфель №10</a:t>
            </a:r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173F7058-30A0-0125-1A90-B808A012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66800"/>
            <a:ext cx="10477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П4 · Сравнение вариантов</a:t>
            </a:r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810BED8-CB43-D17C-4D24-32A4B0893D6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  <p:sp>
        <p:nvSpPr>
          <p:cNvPr id="7" name="Enumeration">
            <a:extLst xmlns:a="http://schemas.openxmlformats.org/drawingml/2006/main">
              <a:ext uri="{FF2B5EF4-FFF2-40B4-BE49-F238E27FC236}">
                <a16:creationId xmlns:a16="http://schemas.microsoft.com/office/drawing/2014/main" id="{8CC2B0EB-8D05-4F0F-9560-503DFA938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81150"/>
            <a:ext cx="114014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72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30 170 комбинаций  →  20 161 после допуска D3  →  1 056 BASE + STRESS  →  60 на фронте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390525" y="2143125"/>
          <a:ext xmlns:a="http://schemas.openxmlformats.org/drawingml/2006/main" cx="11401425" cy="2571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4543425"/>
                <a:gridCol w="1714500"/>
                <a:gridCol w="1809750"/>
                <a:gridCol w="1619250"/>
                <a:gridCol w="1714500"/>
              </a:tblGrid>
              <a:tr h="42862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</a:rPr>
                        <a:t>Вариант и отличие</a:t>
                      </a:r>
                    </a:p>
                  </a:txBody>
                  <a:tcPr marL="91440" marR="91440" marT="45720" marB="45720" anchor="ctr">
                    <a:solidFill>
                      <a:srgbClr val="3357B8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</a:rPr>
                        <a:t>NPV, млн</a:t>
                      </a:r>
                    </a:p>
                  </a:txBody>
                  <a:tcPr marL="91440" marR="91440" marT="45720" marB="45720" anchor="ctr">
                    <a:solidFill>
                      <a:srgbClr val="3357B8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</a:rPr>
                        <a:t>VPUB / год</a:t>
                      </a:r>
                    </a:p>
                  </a:txBody>
                  <a:tcPr marL="91440" marR="91440" marT="45720" marB="45720" anchor="ctr">
                    <a:solidFill>
                      <a:srgbClr val="3357B8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</a:rPr>
                        <a:t>Качество</a:t>
                      </a:r>
                    </a:p>
                  </a:txBody>
                  <a:tcPr marL="91440" marR="91440" marT="45720" marB="45720" anchor="ctr">
                    <a:solidFill>
                      <a:srgbClr val="3357B8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</a:rPr>
                        <a:t>Запас C0¹</a:t>
                      </a:r>
                    </a:p>
                  </a:txBody>
                  <a:tcPr marL="91440" marR="91440" marT="45720" marB="45720" anchor="ctr">
                    <a:solidFill>
                      <a:srgbClr val="3357B8"/>
                    </a:solidFill>
                  </a:tcPr>
                </a:tc>
              </a:tr>
              <a:tr h="42862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№10 · выбранный</a:t>
                      </a:r>
                    </a:p>
                  </a:txBody>
                  <a:tcPr marL="91440" marR="91440" marT="45720" marB="45720" anchor="ctr">
                    <a:solidFill>
                      <a:srgbClr val="E9EEFA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−505</a:t>
                      </a:r>
                    </a:p>
                  </a:txBody>
                  <a:tcPr marL="91440" marR="91440" marT="45720" marB="45720" anchor="ctr">
                    <a:solidFill>
                      <a:srgbClr val="E9EEFA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1 199</a:t>
                      </a:r>
                    </a:p>
                  </a:txBody>
                  <a:tcPr marL="91440" marR="91440" marT="45720" marB="45720" anchor="ctr">
                    <a:solidFill>
                      <a:srgbClr val="E9EEFA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3,000</a:t>
                      </a:r>
                    </a:p>
                  </a:txBody>
                  <a:tcPr marL="91440" marR="91440" marT="45720" marB="45720" anchor="ctr">
                    <a:solidFill>
                      <a:srgbClr val="E9EEFA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76,0</a:t>
                      </a:r>
                    </a:p>
                  </a:txBody>
                  <a:tcPr marL="91440" marR="91440" marT="45720" marB="45720" anchor="ctr">
                    <a:solidFill>
                      <a:srgbClr val="E9EEFA"/>
                    </a:solidFill>
                  </a:tcPr>
                </a:tc>
              </a:tr>
              <a:tr h="42862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№11 · TRANS:B вместо C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−581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1 243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3,000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71,0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</a:tr>
              <a:tr h="42862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№1 · FLOOD вместо FIRE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−480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1 239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2,508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55,9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</a:tr>
              <a:tr h="42862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№30 · максимум пользы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−1 282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1 610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1,548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1,8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</a:tr>
              <a:tr h="42862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№40 · максимум качества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−676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1 014,6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3,413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7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42,9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9" name="Decision rule">
            <a:extLst xmlns:a="http://schemas.openxmlformats.org/drawingml/2006/main">
              <a:ext uri="{FF2B5EF4-FFF2-40B4-BE49-F238E27FC236}">
                <a16:creationId xmlns:a16="http://schemas.microsoft.com/office/drawing/2014/main" id="{89FAF6DE-4D35-416C-8133-75511F0D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953000"/>
            <a:ext cx="11401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72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№10 и №11: минимальная сумма рангов = 71. Ничья решена по S: 6,689 &gt; 6,570.</a:t>
            </a:r>
          </a:p>
        </p:txBody>
      </p:sp>
      <p:sp>
        <p:nvSpPr>
          <p:cNvPr id="10" name="Explicit tradeoff">
            <a:extLst xmlns:a="http://schemas.openxmlformats.org/drawingml/2006/main">
              <a:ext uri="{FF2B5EF4-FFF2-40B4-BE49-F238E27FC236}">
                <a16:creationId xmlns:a16="http://schemas.microsoft.com/office/drawing/2014/main" id="{C6CF7F8B-2DEF-426C-A577-351C5AE2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10200"/>
            <a:ext cx="11401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 b="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Цена выбора: общественная польза — 47-е место из 60; ядро и группы — на минимуме.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 b="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S = сумма трёх блоков: открытое предпочтение команды, не универсальный «лучший».</a:t>
            </a:r>
          </a:p>
        </p:txBody>
      </p:sp>
      <p:sp>
        <p:nvSpPr>
          <p:cNvPr id="11" name="Rubric/source label">
            <a:extLst xmlns:a="http://schemas.openxmlformats.org/drawingml/2006/main">
              <a:ext uri="{FF2B5EF4-FFF2-40B4-BE49-F238E27FC236}">
                <a16:creationId xmlns:a16="http://schemas.microsoft.com/office/drawing/2014/main" id="{7BE34234-A6ED-4072-870C-5E2F30D3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47700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536172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536172"/>
                </a:solidFill>
                <a:latin typeface="Roboto"/>
                <a:ea typeface="Roboto"/>
                <a:cs typeface="Roboto"/>
              </a:rPr>
              <a:t>¹ До лимита STRESS, млн руб. · D1 и D3 — отдельные прогоны. Полный состав альтернатив — в заметках.</a:t>
            </a:r>
          </a:p>
        </p:txBody>
      </p:sp>
    </p:spTree>
    <p:extLst>
      <p:ext uri="{BB962C8B-B14F-4D97-AF65-F5344CB8AC3E}">
        <p14:creationId xmlns:p14="http://schemas.microsoft.com/office/powerpoint/2010/main" val="33601337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4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C936F667-D10C-5292-AA3B-96BE2CAC84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0525" y="2133600"/>
            <a:ext cx="5534025" cy="3371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Повторно используем приём данных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и первичную обработку.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Карты, пороги тревог и интеграции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со службами остаются локальными.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Допуск: ≥ 2 лота в D3 с общей группой.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Совпадения EO недостаточно: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нужны совместимые требования,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сравнительная смета и распределение затрат.</a:t>
            </a:r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C5959EFF-52C4-5B31-3FCE-BFF3A75CF3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525250" y="6467475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9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9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5</a:t>
            </a:r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469ED97F-6CDE-1EE8-6602-FE9CC4D732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668" y="333375"/>
            <a:ext cx="11404568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850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D3: экономия на общем компоненте FIRE и ENV</a:t>
            </a:r>
          </a:p>
        </p:txBody>
      </p:sp>
      <p:sp>
        <p:nvSpPr>
          <p:cNvPr id="2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A4A94F3C-B1B2-7289-7098-7C66C8A29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133600"/>
            <a:ext cx="5534025" cy="3371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Доли затрат и экономии — гипотеза команды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kC0 = 1,05 × (1 − 0,20 × 0,30) + 0,02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          = 1,007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kOPEX = 1,05 × (1 − 0,25 × 0,20) + 0,02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               = 1,0175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Остальные коэффициенты: 1 · 1 · 0,25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VPUB · anchor · commercial; ядро сохранено.</a:t>
            </a:r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3787D66-ADFA-FEAC-9070-B9C216CEFEA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  <p:sp>
        <p:nvSpPr>
          <p:cNvPr id="3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FD46BF2A-8122-2E0A-E8CC-886653CF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381125"/>
            <a:ext cx="11401425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2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02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FIRE + ENV: общий EO-компонент</a:t>
            </a:r>
          </a:p>
        </p:txBody>
      </p:sp>
      <p:sp>
        <p:nvSpPr>
          <p:cNvPr id="535" name="D3 measurable effect">
            <a:extLst xmlns:a="http://schemas.openxmlformats.org/drawingml/2006/main">
              <a:ext uri="{FF2B5EF4-FFF2-40B4-BE49-F238E27FC236}">
                <a16:creationId xmlns:a16="http://schemas.microsoft.com/office/drawing/2014/main" id="{BC660057-7207-49B7-B426-A80BB8652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34050"/>
            <a:ext cx="11401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800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Против A: −25,8 млн C0 и −5,2 млн OPEX/год. Экономия подлежит подтверждению.</a:t>
            </a:r>
          </a:p>
        </p:txBody>
      </p:sp>
      <p:sp>
        <p:nvSpPr>
          <p:cNvPr id="536" name="Rubric/source label">
            <a:extLst xmlns:a="http://schemas.openxmlformats.org/drawingml/2006/main">
              <a:ext uri="{FF2B5EF4-FFF2-40B4-BE49-F238E27FC236}">
                <a16:creationId xmlns:a16="http://schemas.microsoft.com/office/drawing/2014/main" id="{B5D443E9-EFAC-468F-918C-A5E70AFA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47700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536172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536172"/>
                </a:solidFill>
                <a:latin typeface="Roboto"/>
                <a:ea typeface="Roboto"/>
                <a:cs typeface="Roboto"/>
              </a:rPr>
              <a:t>П2, П5 · D1 — платная надстройка над A; рассмотрена, но в итоговый портфель не вошла.</a:t>
            </a:r>
          </a:p>
        </p:txBody>
      </p:sp>
    </p:spTree>
    <p:extLst>
      <p:ext uri="{BB962C8B-B14F-4D97-AF65-F5344CB8AC3E}">
        <p14:creationId xmlns:p14="http://schemas.microsoft.com/office/powerpoint/2010/main" val="54622172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F29587C6-818E-614C-4E8F-CD264BB5DD4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525250" y="6467475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9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9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6</a:t>
            </a:r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E3FE1DBC-074A-B31C-7363-7F3B844437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668" y="333375"/>
            <a:ext cx="11404568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850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Эксплуатация покрыта. Старт требует финансирования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655C29-3D04-D88C-395C-E6000B5894F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EFFCFBF-F669-9423-2DB8-D166659E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952750"/>
            <a:ext cx="5533930" cy="1562100"/>
          </a:xfrm>
          <a:prstGeom xmlns:a="http://schemas.openxmlformats.org/drawingml/2006/main" prst="roundRect">
            <a:avLst>
              <a:gd name="adj" fmla="val 3585"/>
            </a:avLst>
          </a:prstGeom>
          <a:noFill xmlns:a="http://schemas.openxmlformats.org/drawingml/2006/main"/>
          <a:ln xmlns:a="http://schemas.openxmlformats.org/drawingml/2006/main" w="12700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B25D3D5-48E8-D985-A4A9-9DA67A423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819650"/>
            <a:ext cx="5533930" cy="1524000"/>
          </a:xfrm>
          <a:prstGeom xmlns:a="http://schemas.openxmlformats.org/drawingml/2006/main" prst="roundRect">
            <a:avLst>
              <a:gd name="adj" fmla="val 3585"/>
            </a:avLst>
          </a:prstGeom>
          <a:noFill xmlns:a="http://schemas.openxmlformats.org/drawingml/2006/main"/>
          <a:ln xmlns:a="http://schemas.openxmlformats.org/drawingml/2006/main" w="12700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12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93A9C42-081B-E830-D8CB-13511AF87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3638550"/>
            <a:ext cx="48958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При 10% и 10 годах: PI 0,54; IRR −2,2%.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Простая окупаемость 11,3 года.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Остаток за год ≠ возврат капитала.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3899B51-315F-2B69-8DFE-6F0EE585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3152775"/>
            <a:ext cx="489585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2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02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−505 млн руб. · NPV</a:t>
            </a:r>
          </a:p>
        </p:txBody>
      </p:sp>
      <p:sp>
        <p:nvSpPr>
          <p:cNvPr id="14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DBE99E9C-A611-68DB-873D-1306B6DA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5438775"/>
            <a:ext cx="48958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VPUB = 1 199 млн руб. в год по шкале кейса.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Общественная оценка не прибавляется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к денежным поступлениям на графике.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A7172E7-1168-69D9-D755-CC735D3A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5038725"/>
            <a:ext cx="489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2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02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2,50 · SROI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252D751-7B28-98E9-CF7E-0EB98657E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1123950"/>
            <a:ext cx="5533930" cy="1562100"/>
          </a:xfrm>
          <a:prstGeom xmlns:a="http://schemas.openxmlformats.org/drawingml/2006/main" prst="roundRect">
            <a:avLst>
              <a:gd name="adj" fmla="val 3585"/>
            </a:avLst>
          </a:prstGeom>
          <a:noFill xmlns:a="http://schemas.openxmlformats.org/drawingml/2006/main"/>
          <a:ln xmlns:a="http://schemas.openxmlformats.org/drawingml/2006/main" w="12700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17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07D94FB0-B75A-4229-2FD1-CA1FAAC57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809750"/>
            <a:ext cx="489585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Предлагается полный капитальный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грант / целевой трансферт заказчика.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Это схема, не подтверждённое выделение.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0D1D081-A168-A031-F892-8E2476A4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323975"/>
            <a:ext cx="4895850" cy="428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2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02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1 104 млн руб. · запуск</a:t>
            </a:r>
          </a:p>
        </p:txBody>
      </p:sp>
      <p:graphicFrame>
        <p:nvGraphicFramePr>
          <p:cNvPr id="550" name="Chart"/>
          <p:cNvGraphicFramePr/>
          <p:nvPr/>
        </p:nvGraphicFramePr>
        <p:xfrm>
          <a:off xmlns:a="http://schemas.openxmlformats.org/drawingml/2006/main" x="390525" y="1628775"/>
          <a:ext xmlns:a="http://schemas.openxmlformats.org/drawingml/2006/main" cx="5495925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05a4b9d88d437a"/>
          </a:graphicData>
        </a:graphic>
      </p:graphicFrame>
      <p:sp>
        <p:nvSpPr>
          <p:cNvPr id="535" name="Annual inflows">
            <a:extLst xmlns:a="http://schemas.openxmlformats.org/drawingml/2006/main">
              <a:ext uri="{FF2B5EF4-FFF2-40B4-BE49-F238E27FC236}">
                <a16:creationId xmlns:a16="http://schemas.microsoft.com/office/drawing/2014/main" id="{C7AA910E-750D-4C8C-85D8-52B745FC9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219200"/>
            <a:ext cx="561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 b="1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 b="1">
                <a:solidFill>
                  <a:srgbClr val="17212F"/>
                </a:solidFill>
                <a:latin typeface="Roboto"/>
                <a:ea typeface="Roboto"/>
                <a:cs typeface="Roboto"/>
              </a:rPr>
              <a:t>398 = 163,75 якорных + 234,25 коммерческих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 b="1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 b="1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Денежные потоки, млн руб. в год</a:t>
            </a:r>
          </a:p>
        </p:txBody>
      </p:sp>
      <p:sp>
        <p:nvSpPr>
          <p:cNvPr id="536" name="Funding installments">
            <a:extLst xmlns:a="http://schemas.openxmlformats.org/drawingml/2006/main">
              <a:ext uri="{FF2B5EF4-FFF2-40B4-BE49-F238E27FC236}">
                <a16:creationId xmlns:a16="http://schemas.microsoft.com/office/drawing/2014/main" id="{645ACE5B-4F77-4D7C-ACDD-CDFF68222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55816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 b="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Предлагаемые транши C0: 20% / 50% / 30%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 b="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Утверждение → контракты → приёмка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 b="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Источник и плательщик ещё требуют согласования.</a:t>
            </a:r>
          </a:p>
        </p:txBody>
      </p:sp>
      <p:sp>
        <p:nvSpPr>
          <p:cNvPr id="537" name="Rubric/source label">
            <a:extLst xmlns:a="http://schemas.openxmlformats.org/drawingml/2006/main">
              <a:ext uri="{FF2B5EF4-FFF2-40B4-BE49-F238E27FC236}">
                <a16:creationId xmlns:a16="http://schemas.microsoft.com/office/drawing/2014/main" id="{82002913-FCF0-402E-B77E-575784BCD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47700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536172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536172"/>
                </a:solidFill>
                <a:latin typeface="Roboto"/>
                <a:ea typeface="Roboto"/>
                <a:cs typeface="Roboto"/>
              </a:rPr>
              <a:t>П3 · Годовой остаток 97,45 млн руб.; kcash 1,324. Капитальный и эксплуатационный бюджеты разделены.</a:t>
            </a:r>
          </a:p>
        </p:txBody>
      </p:sp>
    </p:spTree>
    <p:extLst>
      <p:ext uri="{BB962C8B-B14F-4D97-AF65-F5344CB8AC3E}">
        <p14:creationId xmlns:p14="http://schemas.microsoft.com/office/powerpoint/2010/main" val="314597529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4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27F9C1C9-D377-4979-B013-6D0BCFBF30E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0525" y="2686050"/>
            <a:ext cx="5534025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Заказчик закупает общий EO-сервис.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Оператор поставляет; профильные службы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и заказчик принимают результат.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Общественный слой бесплатный,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своевременный и недискриминационный.</a:t>
            </a:r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223E24F6-1623-4297-AA58-F5B912F6855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525250" y="6467475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9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9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7</a:t>
            </a:r>
          </a:p>
        </p:txBody>
      </p:sp>
      <p:sp>
        <p:nvSpPr>
          <p:cNvPr id="2" name="Footer Placeholder 1">
            <a:extLst xmlns:a="http://schemas.openxmlformats.org/drawingml/2006/main">
              <a:ext uri="{FF2B5EF4-FFF2-40B4-BE49-F238E27FC236}">
                <a16:creationId xmlns:a16="http://schemas.microsoft.com/office/drawing/2014/main" id="{51941D6B-3AD0-04BD-76AF-506638666AC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  <p:sp>
        <p:nvSpPr>
          <p:cNvPr id="5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A3548D03-1D0F-655D-DD48-D4BF5C80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038350"/>
            <a:ext cx="2476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2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02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FIRE + ENV</a:t>
            </a:r>
          </a:p>
        </p:txBody>
      </p:sp>
      <p:sp>
        <p:nvSpPr>
          <p:cNvPr id="6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4051D0BE-5D22-BCB4-EADF-44F16643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86050"/>
            <a:ext cx="5534025" cy="1276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Годовую подписку оплачивает и принимает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пользователь. Якорные 33,75 млн/год в C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требуют подтверждения плательщика.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Обязательного бесплатного слоя нет.</a:t>
            </a:r>
          </a:p>
        </p:txBody>
      </p:sp>
      <p:sp>
        <p:nvSpPr>
          <p:cNvPr id="7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EE26938C-7FB7-798D-7C48-98893273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038350"/>
            <a:ext cx="5534025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2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02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AGRI + TRANS · C</a:t>
            </a:r>
          </a:p>
        </p:txBody>
      </p:sp>
      <p:sp>
        <p:nvSpPr>
          <p:cNvPr id="10" name="Title 2">
            <a:extLst xmlns:a="http://schemas.openxmlformats.org/drawingml/2006/main">
              <a:ext uri="{FF2B5EF4-FFF2-40B4-BE49-F238E27FC236}">
                <a16:creationId xmlns:a16="http://schemas.microsoft.com/office/drawing/2014/main" id="{944AF173-BF22-B5ED-B88F-9080D8699E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668" y="333375"/>
            <a:ext cx="11404568" cy="619125"/>
          </a:xfr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850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Кто платит, пользуется и отвечает</a:t>
            </a:r>
          </a:p>
        </p:txBody>
      </p:sp>
      <p:sp>
        <p:nvSpPr>
          <p:cNvPr id="11" name="Subtitle 4">
            <a:extLst xmlns:a="http://schemas.openxmlformats.org/drawingml/2006/main">
              <a:ext uri="{FF2B5EF4-FFF2-40B4-BE49-F238E27FC236}">
                <a16:creationId xmlns:a16="http://schemas.microsoft.com/office/drawing/2014/main" id="{42E9C51D-AB09-8D83-4157-006D5713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66800"/>
            <a:ext cx="10477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П5 · Предлагаемая договорная схема</a:t>
            </a:r>
          </a:p>
        </p:txBody>
      </p:sp>
      <p:sp>
        <p:nvSpPr>
          <p:cNvPr id="15" name="Straight Connector 14">
            <a:extLst xmlns:a="http://schemas.openxmlformats.org/drawingml/2006/main">
              <a:ext uri="{FF2B5EF4-FFF2-40B4-BE49-F238E27FC236}">
                <a16:creationId xmlns:a16="http://schemas.microsoft.com/office/drawing/2014/main" id="{2D124A97-28C2-4E93-933E-9D537D34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100" y="4039769"/>
            <a:ext cx="55372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2">
                <a:lumMod val="90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108E1773-B682-C5EE-6944-58546A384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953000"/>
            <a:ext cx="5534025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Капитальный риск — публичный заказчик.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SLA и исполнение — оператор.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Спрос на подписку — коммерческий оператор.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Приёмка проверяет доступ и переносимость.</a:t>
            </a:r>
          </a:p>
        </p:txBody>
      </p:sp>
      <p:sp>
        <p:nvSpPr>
          <p:cNvPr id="17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1C1F2FD8-0D30-C7BF-5234-6F0EE46F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410075"/>
            <a:ext cx="5534025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7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Риски закрепляются договором</a:t>
            </a:r>
          </a:p>
        </p:txBody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F16B487F-1A7A-C301-4AB8-8DC1C198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38350"/>
            <a:ext cx="1428750" cy="400050"/>
          </a:xfrm>
          <a:prstGeom xmlns:a="http://schemas.openxmlformats.org/drawingml/2006/main" prst="roundRect">
            <a:avLst>
              <a:gd name="adj" fmla="val 15738"/>
            </a:avLst>
          </a:prstGeom>
          <a:solidFill xmlns:a="http://schemas.openxmlformats.org/drawingml/2006/main">
            <a:schemeClr val="accent1">
              <a:alpha val="24648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72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D3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3AF61EC-DBA0-BFB1-3293-0BF5DB67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886325"/>
            <a:ext cx="5534025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7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Предлагаемый договор: 3 года</a:t>
            </a:r>
          </a:p>
        </p:txBody>
      </p:sp>
      <p:sp>
        <p:nvSpPr>
          <p:cNvPr id="18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47E14DB1-10CD-1A00-06DC-F11F90562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372100"/>
            <a:ext cx="5534025" cy="8667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Пересмотр конкурсом; экспорт данных, API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и документация для смены оператора.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Нарушение SLA → снижение оплаты / расторжение.</a:t>
            </a:r>
          </a:p>
        </p:txBody>
      </p:sp>
      <p:sp>
        <p:nvSpPr>
          <p:cNvPr id="535" name="Rubric/source label">
            <a:extLst xmlns:a="http://schemas.openxmlformats.org/drawingml/2006/main">
              <a:ext uri="{FF2B5EF4-FFF2-40B4-BE49-F238E27FC236}">
                <a16:creationId xmlns:a16="http://schemas.microsoft.com/office/drawing/2014/main" id="{C1D12E8D-F2FF-4ECE-89EB-05D61FE9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47700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536172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536172"/>
                </a:solidFill>
                <a:latin typeface="Roboto"/>
                <a:ea typeface="Roboto"/>
                <a:cs typeface="Roboto"/>
              </a:rPr>
              <a:t>П5 · Условия, сроки и санкции — предложения команды; договоры и финансирование ещё не подтверждены.</a:t>
            </a:r>
          </a:p>
        </p:txBody>
      </p:sp>
    </p:spTree>
    <p:extLst>
      <p:ext uri="{BB962C8B-B14F-4D97-AF65-F5344CB8AC3E}">
        <p14:creationId xmlns:p14="http://schemas.microsoft.com/office/powerpoint/2010/main" val="128723201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C4429360-E0B5-E472-3BCB-2FC70A04DA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525250" y="6467475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9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9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8</a:t>
            </a:r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3CD65521-5912-FE80-B7B5-EE9E16A135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668" y="333375"/>
            <a:ext cx="11404568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850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STRESS пройден — даже при провале экономии D3</a:t>
            </a:r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75B304C-27F3-8A33-E6D7-E2EFCA2F82B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  <p:sp>
        <p:nvSpPr>
          <p:cNvPr id="7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71547039-AB2A-5CA1-49F7-26E9E7160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67000"/>
            <a:ext cx="4000500" cy="1781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Официальный STRESS меняет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только бюджетный лимит.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Состав и смета сохраняются.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Отдельно: экономия D3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при сохранённой координации</a:t>
            </a:r>
          </a:p>
        </p:txBody>
      </p:sp>
      <p:sp>
        <p:nvSpPr>
          <p:cNvPr id="8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D136FB89-7449-CC90-F061-B6BF578E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52575"/>
            <a:ext cx="3600450" cy="885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47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Лимит C0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47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1 300 → 1 180</a:t>
            </a:r>
          </a:p>
        </p:txBody>
      </p:sp>
      <p:graphicFrame>
        <p:nvGraphicFramePr>
          <p:cNvPr id="543" name=""/>
          <p:cNvGraphicFramePr/>
          <p:nvPr/>
        </p:nvGraphicFramePr>
        <p:xfrm>
          <a:off xmlns:a="http://schemas.openxmlformats.org/drawingml/2006/main" x="390525" y="4619625"/>
          <a:ext xmlns:a="http://schemas.openxmlformats.org/drawingml/2006/main" cx="4000500" cy="14859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333500"/>
                <a:gridCol w="1333500"/>
                <a:gridCol w="1333500"/>
              </a:tblGrid>
              <a:tr h="37147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</a:rPr>
                        <a:t>Экономия</a:t>
                      </a:r>
                    </a:p>
                  </a:txBody>
                  <a:tcPr marL="91440" marR="91440" marT="45720" marB="45720" anchor="ctr">
                    <a:solidFill>
                      <a:srgbClr val="3357B8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</a:rPr>
                        <a:t>C0</a:t>
                      </a:r>
                    </a:p>
                  </a:txBody>
                  <a:tcPr marL="91440" marR="91440" marT="45720" marB="45720" anchor="ctr">
                    <a:solidFill>
                      <a:srgbClr val="3357B8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</a:rPr>
                        <a:t>Запас¹</a:t>
                      </a:r>
                    </a:p>
                  </a:txBody>
                  <a:tcPr marL="91440" marR="91440" marT="45720" marB="45720" anchor="ctr">
                    <a:solidFill>
                      <a:srgbClr val="3357B8"/>
                    </a:solidFill>
                  </a:tcPr>
                </a:tc>
              </a:tr>
              <a:tr h="37147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100%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1 104,0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76,0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</a:tr>
              <a:tr h="37147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50%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1 122,9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57,1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</a:tr>
              <a:tr h="37147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0%</a:t>
                      </a:r>
                    </a:p>
                  </a:txBody>
                  <a:tcPr marL="91440" marR="91440" marT="45720" marB="45720" anchor="ctr">
                    <a:solidFill>
                      <a:srgbClr val="E9EEFA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1 141,8</a:t>
                      </a:r>
                    </a:p>
                  </a:txBody>
                  <a:tcPr marL="91440" marR="91440" marT="45720" marB="45720" anchor="ctr">
                    <a:solidFill>
                      <a:srgbClr val="E9EEFA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500" b="1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38,2</a:t>
                      </a:r>
                    </a:p>
                  </a:txBody>
                  <a:tcPr marL="91440" marR="91440" marT="45720" marB="45720" anchor="ctr">
                    <a:solidFill>
                      <a:srgbClr val="E9EE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44" name=""/>
          <p:cNvGraphicFramePr/>
          <p:nvPr/>
        </p:nvGraphicFramePr>
        <p:xfrm>
          <a:off xmlns:a="http://schemas.openxmlformats.org/drawingml/2006/main" x="4743450" y="1543050"/>
          <a:ext xmlns:a="http://schemas.openxmlformats.org/drawingml/2006/main" cx="7048500" cy="45910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590800"/>
                <a:gridCol w="1466850"/>
                <a:gridCol w="1466850"/>
                <a:gridCol w="1524000"/>
              </a:tblGrid>
              <a:tr h="45910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</a:rPr>
                        <a:t>Условие</a:t>
                      </a:r>
                    </a:p>
                  </a:txBody>
                  <a:tcPr marL="91440" marR="91440" marT="45720" marB="45720" anchor="ctr">
                    <a:solidFill>
                      <a:srgbClr val="3357B8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</a:rPr>
                        <a:t>BASE</a:t>
                      </a:r>
                    </a:p>
                  </a:txBody>
                  <a:tcPr marL="91440" marR="91440" marT="45720" marB="45720" anchor="ctr">
                    <a:solidFill>
                      <a:srgbClr val="3357B8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</a:rPr>
                        <a:t>STRESS</a:t>
                      </a:r>
                    </a:p>
                  </a:txBody>
                  <a:tcPr marL="91440" marR="91440" marT="45720" marB="45720" anchor="ctr">
                    <a:solidFill>
                      <a:srgbClr val="3357B8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</a:rPr>
                        <a:t>Факт²</a:t>
                      </a:r>
                    </a:p>
                  </a:txBody>
                  <a:tcPr marL="91440" marR="91440" marT="45720" marB="45720" anchor="ctr">
                    <a:solidFill>
                      <a:srgbClr val="3357B8"/>
                    </a:solidFill>
                  </a:tcPr>
                </a:tc>
              </a:tr>
              <a:tr h="45910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Лоты, разные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= 4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= 4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</a:tr>
              <a:tr h="45910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Архетипы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≥ 3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≥ 3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</a:tr>
              <a:tr h="45910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Группы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≥ 2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≥ 2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</a:tr>
              <a:tr h="45910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Общественное ядро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≥ 2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≥ 2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</a:tr>
              <a:tr h="45910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425" b="1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C0, млн руб.</a:t>
                      </a:r>
                    </a:p>
                  </a:txBody>
                  <a:tcPr marL="91440" marR="91440" marT="45720" marB="45720" anchor="ctr">
                    <a:solidFill>
                      <a:srgbClr val="E9EEFA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≤ 1 300</a:t>
                      </a:r>
                    </a:p>
                  </a:txBody>
                  <a:tcPr marL="91440" marR="91440" marT="45720" marB="45720" anchor="ctr">
                    <a:solidFill>
                      <a:srgbClr val="E9EEFA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≤ 1 180</a:t>
                      </a:r>
                    </a:p>
                  </a:txBody>
                  <a:tcPr marL="91440" marR="91440" marT="45720" marB="45720" anchor="ctr">
                    <a:solidFill>
                      <a:srgbClr val="E9EEFA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1 104</a:t>
                      </a:r>
                    </a:p>
                  </a:txBody>
                  <a:tcPr marL="91440" marR="91440" marT="45720" marB="45720" anchor="ctr">
                    <a:solidFill>
                      <a:srgbClr val="E9EEFA"/>
                    </a:solidFill>
                  </a:tcPr>
                </a:tc>
              </a:tr>
              <a:tr h="45910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OPEX, млн / год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≤ 360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≤ 360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300,55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</a:tr>
              <a:tr h="45910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VPUB, млн / год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≥ 1 000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≥ 1 000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1 199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</a:tr>
              <a:tr h="45910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kcash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≥ 0,60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≥ 0,60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1,324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</a:tr>
              <a:tr h="45910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t_rep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≥ 0,63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≥ 0,63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0,730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537" name="Rubric/source label">
            <a:extLst xmlns:a="http://schemas.openxmlformats.org/drawingml/2006/main">
              <a:ext uri="{FF2B5EF4-FFF2-40B4-BE49-F238E27FC236}">
                <a16:creationId xmlns:a16="http://schemas.microsoft.com/office/drawing/2014/main" id="{DBA13A9C-537E-4DAB-9F4C-3D0B7CA8C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47700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536172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536172"/>
                </a:solidFill>
                <a:latin typeface="Roboto"/>
                <a:ea typeface="Roboto"/>
                <a:cs typeface="Roboto"/>
              </a:rPr>
              <a:t>П6 · ¹ До 1 180 млн руб.  ² Номинальный D3. Все 9 условий — PASS; при 0% и 50% экономии также PASS.</a:t>
            </a:r>
          </a:p>
        </p:txBody>
      </p:sp>
    </p:spTree>
    <p:extLst>
      <p:ext uri="{BB962C8B-B14F-4D97-AF65-F5344CB8AC3E}">
        <p14:creationId xmlns:p14="http://schemas.microsoft.com/office/powerpoint/2010/main" val="255389493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CAD38C25-48AC-5A29-D53A-82080FAF926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525250" y="6467475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9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9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9</a:t>
            </a:r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33E8FE18-95DE-C7EA-9E95-10B8218936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668" y="333375"/>
            <a:ext cx="11404568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850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Риски связаны с выбранными лотами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E3149F3-A7D7-BC8F-C84C-4A4E60EA2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2" y="253749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noFill xmlns:a="http://schemas.openxmlformats.org/drawingml/2006/main"/>
          <a:ln xmlns:a="http://schemas.openxmlformats.org/drawingml/2006/main" w="12700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5CD1077A-BBDF-3B07-D940-FA5482CB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043" y="253749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noFill xmlns:a="http://schemas.openxmlformats.org/drawingml/2006/main"/>
          <a:ln xmlns:a="http://schemas.openxmlformats.org/drawingml/2006/main" w="12700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1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B54A841D-1EA0-6181-C778-7C851CA6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9925"/>
            <a:ext cx="5000625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Сравнительная смета и аудит до закупки.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При нулевой экономии: запас C0 38,2 млн.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Проверка не гарантирует будущую скидку.</a:t>
            </a:r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B4E203EC-EB81-96EF-66AB-3B6012B4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2" y="437010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noFill xmlns:a="http://schemas.openxmlformats.org/drawingml/2006/main"/>
          <a:ln xmlns:a="http://schemas.openxmlformats.org/drawingml/2006/main" w="12700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000F722-C0CE-FDAF-EAFE-20BC4A7F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043" y="4370106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noFill xmlns:a="http://schemas.openxmlformats.org/drawingml/2006/main"/>
          <a:ln xmlns:a="http://schemas.openxmlformats.org/drawingml/2006/main" w="12700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11" name="Footer Placeholder 10">
            <a:extLst xmlns:a="http://schemas.openxmlformats.org/drawingml/2006/main">
              <a:ext uri="{FF2B5EF4-FFF2-40B4-BE49-F238E27FC236}">
                <a16:creationId xmlns:a16="http://schemas.microsoft.com/office/drawing/2014/main" id="{A4694142-7504-448C-B110-ABCB1A6DD41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  <p:sp>
        <p:nvSpPr>
          <p:cNvPr id="12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F393FB38-1005-6250-1642-93C1A76E0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1649094"/>
            <a:ext cx="11404600" cy="6340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При падении всей коммерческой выручки на 41,6% исчезает операционный профицит.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Порог 92,9% относится только к формальному kcash ≥ 0,6; якорные платежи и OPEX фиксированы.</a:t>
            </a:r>
          </a:p>
        </p:txBody>
      </p:sp>
      <p:sp>
        <p:nvSpPr>
          <p:cNvPr id="13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A0F4C075-109A-7DDE-18C9-18F128552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99" y="1146566"/>
            <a:ext cx="11404599" cy="40244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9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Устойчивость по ограничениям не отменяет риск исполнения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9DCE927-F1A4-A9ED-C839-844BB688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67" y="2793808"/>
            <a:ext cx="4986886" cy="29443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72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Экономия D3 не подтверждена</a:t>
            </a:r>
          </a:p>
        </p:txBody>
      </p:sp>
      <p:sp>
        <p:nvSpPr>
          <p:cNvPr id="16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B71DDDF3-A6F6-A2D9-7F68-A246AE82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09925"/>
            <a:ext cx="5000625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Открытые API, экспорт и конкурс раз в 3 года.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Общий отказ затрагивает FIRE и ENV.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Нужны реально доступные альтернативы.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AD06467-8163-39A0-0B9A-1A98533B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5127" y="2793808"/>
            <a:ext cx="4986886" cy="29443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72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Один EO-поставщик для двух лотов</a:t>
            </a:r>
          </a:p>
        </p:txBody>
      </p:sp>
      <p:sp>
        <p:nvSpPr>
          <p:cNvPr id="1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61F5831-A6CA-0036-3E5C-283D4EBA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48250"/>
            <a:ext cx="5000625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Пилотные контракты; контроль CRM и kcash.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Пилот не гарантирует весь объём спроса.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При нулевой commercial: kcash 0,545, FAIL.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83300B-2E76-54E3-B3E8-C4CE0DA32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67" y="4637848"/>
            <a:ext cx="4986886" cy="29443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72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Коммерческий спрос ниже прогноза</a:t>
            </a:r>
          </a:p>
        </p:txBody>
      </p:sp>
      <p:sp>
        <p:nvSpPr>
          <p:cNvPr id="2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1E87E4E-34C4-73A3-D9B4-5528035E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048250"/>
            <a:ext cx="5000625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Проверить резервный канал и его стоимость.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Резерв не включён как бесплатная мера.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Порог resilience в кейсе не задан.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BBBD727-79F1-2502-A083-A18F5A75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5127" y="4637848"/>
            <a:ext cx="4986886" cy="29443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72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FIRE: устойчивость 3,5 против 4,05</a:t>
            </a:r>
          </a:p>
        </p:txBody>
      </p:sp>
      <p:sp>
        <p:nvSpPr>
          <p:cNvPr id="534" name="Rubric/source label">
            <a:extLst xmlns:a="http://schemas.openxmlformats.org/drawingml/2006/main">
              <a:ext uri="{FF2B5EF4-FFF2-40B4-BE49-F238E27FC236}">
                <a16:creationId xmlns:a16="http://schemas.microsoft.com/office/drawing/2014/main" id="{8B29EB7C-32C3-490D-8040-9177D5AE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47700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536172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536172"/>
                </a:solidFill>
                <a:latin typeface="Roboto"/>
                <a:ea typeface="Roboto"/>
                <a:cs typeface="Roboto"/>
              </a:rPr>
              <a:t>П7 · Вероятности оценены качественно; модель не содержит статистики отказов и спроса.</a:t>
            </a:r>
          </a:p>
        </p:txBody>
      </p:sp>
    </p:spTree>
    <p:extLst>
      <p:ext uri="{BB962C8B-B14F-4D97-AF65-F5344CB8AC3E}">
        <p14:creationId xmlns:p14="http://schemas.microsoft.com/office/powerpoint/2010/main" val="217953532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CCCB27A2-1D9F-6514-0821-C7CC3F67552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525250" y="6467475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9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9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10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B4C5563-C118-E2D4-2A1A-F84171FF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953" y="3365501"/>
            <a:ext cx="3568700" cy="2628900"/>
          </a:xfrm>
          <a:prstGeom xmlns:a="http://schemas.openxmlformats.org/drawingml/2006/main" prst="roundRect">
            <a:avLst>
              <a:gd name="adj" fmla="val 3585"/>
            </a:avLst>
          </a:prstGeom>
          <a:noFill xmlns:a="http://schemas.openxmlformats.org/drawingml/2006/main"/>
          <a:ln xmlns:a="http://schemas.openxmlformats.org/drawingml/2006/main" w="12700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7EC77EB-07E7-2818-9132-6416EC5E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501"/>
            <a:ext cx="3568700" cy="2628900"/>
          </a:xfrm>
          <a:prstGeom xmlns:a="http://schemas.openxmlformats.org/drawingml/2006/main" prst="roundRect">
            <a:avLst>
              <a:gd name="adj" fmla="val 3585"/>
            </a:avLst>
          </a:prstGeom>
          <a:noFill xmlns:a="http://schemas.openxmlformats.org/drawingml/2006/main"/>
          <a:ln xmlns:a="http://schemas.openxmlformats.org/drawingml/2006/main" w="12700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12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14F9DBD7-0427-326B-17D5-5DD215C44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990975"/>
            <a:ext cx="2943225" cy="1685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Адаптируем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Карты, пороги тревог,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интеграции со службами,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локальную эксплуатацию.</a:t>
            </a:r>
          </a:p>
        </p:txBody>
      </p:sp>
      <p:sp>
        <p:nvSpPr>
          <p:cNvPr id="13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A81FFF27-06E1-B925-B772-E8C07A029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990975"/>
            <a:ext cx="2943225" cy="1685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Передаём опыт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Спецификации, результаты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приёмки и SLA, ошибки пилота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и правила следующей закупки.</a:t>
            </a:r>
          </a:p>
        </p:txBody>
      </p:sp>
      <p:sp>
        <p:nvSpPr>
          <p:cNvPr id="14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D182FC54-B4D0-2FD9-7909-F4321F70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645" y="3694101"/>
            <a:ext cx="233806" cy="233717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5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12304657-C94E-6AEC-95B3-FF04FD52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3270" y="3694102"/>
            <a:ext cx="233806" cy="233717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" name="Footer Placeholder 1">
            <a:extLst xmlns:a="http://schemas.openxmlformats.org/drawingml/2006/main">
              <a:ext uri="{FF2B5EF4-FFF2-40B4-BE49-F238E27FC236}">
                <a16:creationId xmlns:a16="http://schemas.microsoft.com/office/drawing/2014/main" id="{7FAC9A03-119F-393D-2295-2587BE7C4F7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2F7C895E-DE9C-ED5D-5936-715D047B60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668" y="333375"/>
            <a:ext cx="11404568" cy="619125"/>
          </a:xfr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850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Тиражируем общий компонент и опыт пилота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E49F3E50-E7DD-037F-1687-7A3A0847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753" y="3365501"/>
            <a:ext cx="3568700" cy="2628900"/>
          </a:xfrm>
          <a:prstGeom xmlns:a="http://schemas.openxmlformats.org/drawingml/2006/main" prst="roundRect">
            <a:avLst>
              <a:gd name="adj" fmla="val 3585"/>
            </a:avLst>
          </a:prstGeom>
          <a:noFill xmlns:a="http://schemas.openxmlformats.org/drawingml/2006/main"/>
          <a:ln xmlns:a="http://schemas.openxmlformats.org/drawingml/2006/main" w="12700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6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895137EF-1168-9543-8134-200AA74D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990975"/>
            <a:ext cx="2943225" cy="1685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Переносим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EO-приём и обработку,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форматы / API,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72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договор и расчётный инструмент.</a:t>
            </a:r>
          </a:p>
        </p:txBody>
      </p:sp>
      <p:sp>
        <p:nvSpPr>
          <p:cNvPr id="7" name="Google Shape;340;p61">
            <a:extLst xmlns:a="http://schemas.openxmlformats.org/drawingml/2006/main">
              <a:ext uri="{FF2B5EF4-FFF2-40B4-BE49-F238E27FC236}">
                <a16:creationId xmlns:a16="http://schemas.microsoft.com/office/drawing/2014/main" id="{A926CAA1-5F44-3769-A410-E058BAEE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445" y="3694101"/>
            <a:ext cx="233806" cy="233717"/>
          </a:xfrm>
          <a:custGeom xmlns:a="http://schemas.openxmlformats.org/drawingml/2006/main"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7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208EF3D1-5C57-8D4F-49C8-21BD74420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0"/>
            <a:ext cx="11401425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8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Кандидат — FLOOD на Дальнем Востоке, решение с 3-го года при устойчивых KPI.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8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Потребуются новая проверка бюджета, совместимости и региональной сметы.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80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Пятый лот не является решением текущего кейса с ограничением «ровно четыре».</a:t>
            </a:r>
          </a:p>
        </p:txBody>
      </p:sp>
      <p:sp>
        <p:nvSpPr>
          <p:cNvPr id="18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93CCF932-231F-7EA0-6520-FFB192B4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99" y="1318016"/>
            <a:ext cx="11404599" cy="40244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2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02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FIRE + ENV → проверенный пакет → следующий регион</a:t>
            </a:r>
          </a:p>
        </p:txBody>
      </p:sp>
      <p:sp>
        <p:nvSpPr>
          <p:cNvPr id="533" name="Rubric/source label">
            <a:extLst xmlns:a="http://schemas.openxmlformats.org/drawingml/2006/main">
              <a:ext uri="{FF2B5EF4-FFF2-40B4-BE49-F238E27FC236}">
                <a16:creationId xmlns:a16="http://schemas.microsoft.com/office/drawing/2014/main" id="{DDCF668F-0016-45A2-B422-7CE54495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47700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536172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536172"/>
                </a:solidFill>
                <a:latin typeface="Roboto"/>
                <a:ea typeface="Roboto"/>
                <a:cs typeface="Roboto"/>
              </a:rPr>
              <a:t>П8 · Портфельный scale = 4,675 при среднем 4,5 по восьми лотам; это индекс кейса, не доказанная экономия.</a:t>
            </a:r>
          </a:p>
        </p:txBody>
      </p:sp>
    </p:spTree>
    <p:extLst>
      <p:ext uri="{BB962C8B-B14F-4D97-AF65-F5344CB8AC3E}">
        <p14:creationId xmlns:p14="http://schemas.microsoft.com/office/powerpoint/2010/main" val="156618307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0BCC789E-87DC-C416-5298-C7F6E26A953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0525" y="3810000"/>
            <a:ext cx="3429000" cy="904875"/>
          </a:xfr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Т0, 0–2: бюджет и мандат.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Т1, 2–6: конкурс и договоры.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Заказчик + операторы.</a:t>
            </a:r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BBF0163-E4B1-61D1-776D-45470B16F0F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525250" y="6467475"/>
            <a:ext cx="266700" cy="228600"/>
          </a:xfr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9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9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11</a:t>
            </a:r>
          </a:p>
        </p:txBody>
      </p:sp>
      <p:sp>
        <p:nvSpPr>
          <p:cNvPr id="11" name="Title 10">
            <a:extLst xmlns:a="http://schemas.openxmlformats.org/drawingml/2006/main">
              <a:ext uri="{FF2B5EF4-FFF2-40B4-BE49-F238E27FC236}">
                <a16:creationId xmlns:a16="http://schemas.microsoft.com/office/drawing/2014/main" id="{9759E2FE-9F02-E1B4-EBBC-AA8624ACC3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668" y="333375"/>
            <a:ext cx="11404568" cy="619125"/>
          </a:xfr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850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Запуск за 12 месяцев, затем контроль результата</a:t>
            </a:r>
          </a:p>
        </p:txBody>
      </p:sp>
      <p:sp>
        <p:nvSpPr>
          <p:cNvPr id="17" name="Text Placeholder 16">
            <a:extLst xmlns:a="http://schemas.openxmlformats.org/drawingml/2006/main">
              <a:ext uri="{FF2B5EF4-FFF2-40B4-BE49-F238E27FC236}">
                <a16:creationId xmlns:a16="http://schemas.microsoft.com/office/drawing/2014/main" id="{986AEEE5-7F7B-65AD-1D88-9157CF0514D8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4286250" y="3810000"/>
            <a:ext cx="3429000" cy="904875"/>
          </a:xfr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Т2, 6–10: приёмка и доступ.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Т3, 10–12: запуск платежей.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Оператор + заказчик.</a:t>
            </a:r>
          </a:p>
        </p:txBody>
      </p:sp>
      <p:sp>
        <p:nvSpPr>
          <p:cNvPr id="18" name="Content Placeholder 17">
            <a:extLst xmlns:a="http://schemas.openxmlformats.org/drawingml/2006/main">
              <a:ext uri="{FF2B5EF4-FFF2-40B4-BE49-F238E27FC236}">
                <a16:creationId xmlns:a16="http://schemas.microsoft.com/office/drawing/2014/main" id="{B32A8A18-E9FA-02B4-6667-53C019EC43C0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8220075" y="3810000"/>
            <a:ext cx="3571875" cy="933450"/>
          </a:xfr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Т4: аудит; конкурс раз в 3 года.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Т5, год 3+: решение по FLOOD.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Заказчик + региональные партнёры.</a:t>
            </a:r>
          </a:p>
        </p:txBody>
      </p:sp>
      <p:cxnSp>
        <p:nvCxnSpPr>
          <p:cNvPr id="27" name="Google Shape;2259;p159"/>
          <p:cNvCxnSpPr>
            <a:stCxn xmlns:a="http://schemas.openxmlformats.org/drawingml/2006/main" id="3" idx="2"/>
          </p:cNvCxnSpPr>
          <p:nvPr/>
        </p:nvCxnSpPr>
        <p:spPr>
          <a:xfrm xmlns:a="http://schemas.openxmlformats.org/drawingml/2006/main">
            <a:off x="337718" y="3373753"/>
            <a:ext cx="12245400" cy="3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Google Shape;2260;p159">
            <a:extLst xmlns:a="http://schemas.openxmlformats.org/drawingml/2006/main">
              <a:ext uri="{FF2B5EF4-FFF2-40B4-BE49-F238E27FC236}">
                <a16:creationId xmlns:a16="http://schemas.microsoft.com/office/drawing/2014/main" id="{39A86B1D-EA5D-3FA6-7D83-8F21D70E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18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/>
              <a:ea typeface="OpenAI Sans"/>
              <a:cs typeface="OpenAI Sans"/>
            </a:endParaRPr>
          </a:p>
        </p:txBody>
      </p:sp>
      <p:sp>
        <p:nvSpPr>
          <p:cNvPr id="5" name="Google Shape;2261;p159">
            <a:extLst xmlns:a="http://schemas.openxmlformats.org/drawingml/2006/main">
              <a:ext uri="{FF2B5EF4-FFF2-40B4-BE49-F238E27FC236}">
                <a16:creationId xmlns:a16="http://schemas.microsoft.com/office/drawing/2014/main" id="{A1013DAF-A2C3-BC42-73D5-9D8AB55D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50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/>
              <a:ea typeface="OpenAI Sans"/>
              <a:cs typeface="OpenAI Sans"/>
            </a:endParaRPr>
          </a:p>
        </p:txBody>
      </p:sp>
      <p:sp>
        <p:nvSpPr>
          <p:cNvPr id="6" name="Google Shape;2262;p159">
            <a:extLst xmlns:a="http://schemas.openxmlformats.org/drawingml/2006/main">
              <a:ext uri="{FF2B5EF4-FFF2-40B4-BE49-F238E27FC236}">
                <a16:creationId xmlns:a16="http://schemas.microsoft.com/office/drawing/2014/main" id="{4654A74A-2C40-A8C6-E9F9-43C58A3A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50" y="3320203"/>
            <a:ext cx="107100" cy="107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/>
              <a:ea typeface="OpenAI Sans"/>
              <a:cs typeface="OpenAI Sans"/>
            </a:endParaRPr>
          </a:p>
        </p:txBody>
      </p:sp>
      <p:sp>
        <p:nvSpPr>
          <p:cNvPr id="9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76C75857-E8EA-1B37-0464-3C7048D7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33650"/>
            <a:ext cx="3048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7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0–6 месяцев</a:t>
            </a:r>
          </a:p>
        </p:txBody>
      </p:sp>
      <p:sp>
        <p:nvSpPr>
          <p:cNvPr id="13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76AEECBA-C292-6302-8A8E-7EB14A54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33650"/>
            <a:ext cx="3048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7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6–12 месяцев</a:t>
            </a:r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95982BB0-2387-9BAA-9F14-F45500C04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533650"/>
            <a:ext cx="3238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7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Годы 1–10</a:t>
            </a:r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3AC3A10F-8642-8154-9AEA-7110D289C62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  <p:sp>
        <p:nvSpPr>
          <p:cNvPr id="19" name="Stage resources">
            <a:extLst xmlns:a="http://schemas.openxmlformats.org/drawingml/2006/main">
              <a:ext uri="{FF2B5EF4-FFF2-40B4-BE49-F238E27FC236}">
                <a16:creationId xmlns:a16="http://schemas.microsoft.com/office/drawing/2014/main" id="{20E52B84-A95E-4138-9FE9-44C83700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266825"/>
            <a:ext cx="11401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800" b="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Заказчик обеспечивает C0 и приёмку; операторы — развёртывание и эксплуатацию.</a:t>
            </a:r>
          </a:p>
        </p:txBody>
      </p:sp>
      <p:graphicFrame>
        <p:nvGraphicFramePr>
          <p:cNvPr id="36" name=""/>
          <p:cNvGraphicFramePr/>
          <p:nvPr/>
        </p:nvGraphicFramePr>
        <p:xfrm>
          <a:off xmlns:a="http://schemas.openxmlformats.org/drawingml/2006/main" x="390525" y="5133975"/>
          <a:ext xmlns:a="http://schemas.openxmlformats.org/drawingml/2006/main" cx="11401425" cy="109537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714625"/>
                <a:gridCol w="3114675"/>
                <a:gridCol w="5572125"/>
              </a:tblGrid>
              <a:tr h="36512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</a:rPr>
                        <a:t>Контроль</a:t>
                      </a:r>
                    </a:p>
                  </a:txBody>
                  <a:tcPr marL="91440" marR="91440" marT="45720" marB="45720" anchor="ctr">
                    <a:solidFill>
                      <a:srgbClr val="3357B8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</a:rPr>
                        <a:t>Цель команды</a:t>
                      </a:r>
                    </a:p>
                  </a:txBody>
                  <a:tcPr marL="91440" marR="91440" marT="45720" marB="45720" anchor="ctr">
                    <a:solidFill>
                      <a:srgbClr val="3357B8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Roboto"/>
                          <a:ea typeface="Roboto"/>
                          <a:cs typeface="Roboto"/>
                        </a:rPr>
                        <a:t>Источник и проверка</a:t>
                      </a:r>
                    </a:p>
                  </a:txBody>
                  <a:tcPr marL="91440" marR="91440" marT="45720" marB="45720" anchor="ctr">
                    <a:solidFill>
                      <a:srgbClr val="3357B8"/>
                    </a:solidFill>
                  </a:tcPr>
                </a:tc>
              </a:tr>
              <a:tr h="36512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350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Финансы / доступ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350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kcash ≥ 1; SLA ≥ 99%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350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Бухотчётность — аудит; логи — квартальный отчёт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</a:tr>
              <a:tr h="365125"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l"/>
                      <a:r>
                        <a:rPr sz="1350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Общественный эффект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350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Положительная динамика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  <a:tc>
                  <a:txBody>
                    <a:bodyPr wrap="square" lIns="66675" tIns="47625" rIns="66675" bIns="47625">
                      <a:noAutofit/>
                    </a:bodyPr>
                    <a:lstStyle/>
                    <a:p>
                      <a:pPr algn="ctr"/>
                      <a:r>
                        <a:rPr sz="1350" b="0">
                          <a:solidFill>
                            <a:srgbClr val="17212F"/>
                          </a:solidFill>
                          <a:latin typeface="Roboto"/>
                          <a:ea typeface="Roboto"/>
                          <a:cs typeface="Roboto"/>
                        </a:rPr>
                        <a:t>FIRE: предотвращённый ущерб; ENV: реагирование¹</a:t>
                      </a:r>
                    </a:p>
                  </a:txBody>
                  <a:tcPr marL="91440" marR="91440" marT="45720" marB="45720" anchor="ctr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21" name="Rubric/source label">
            <a:extLst xmlns:a="http://schemas.openxmlformats.org/drawingml/2006/main">
              <a:ext uri="{FF2B5EF4-FFF2-40B4-BE49-F238E27FC236}">
                <a16:creationId xmlns:a16="http://schemas.microsoft.com/office/drawing/2014/main" id="{A248667D-FE3C-4616-BA45-E85DD18B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47700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536172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536172"/>
                </a:solidFill>
                <a:latin typeface="Roboto"/>
                <a:ea typeface="Roboto"/>
                <a:cs typeface="Roboto"/>
              </a:rPr>
              <a:t>П9 · ¹ Отчёты профильных служб, проверка заказчиком. KPI — цели; зависимости и полный контроль — в заметках.</a:t>
            </a:r>
          </a:p>
        </p:txBody>
      </p:sp>
    </p:spTree>
    <p:extLst>
      <p:ext uri="{BB962C8B-B14F-4D97-AF65-F5344CB8AC3E}">
        <p14:creationId xmlns:p14="http://schemas.microsoft.com/office/powerpoint/2010/main" val="344633891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D6AD4425-62A5-20FE-DA81-DB0262F8E9D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525250" y="6467475"/>
            <a:ext cx="26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9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9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12</a:t>
            </a:r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CCB3C549-3412-D9EC-FC96-8C0EA25A43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668" y="333375"/>
            <a:ext cx="11404568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850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Решение готово к проверке и защите</a:t>
            </a:r>
          </a:p>
        </p:txBody>
      </p:sp>
      <p:sp>
        <p:nvSpPr>
          <p:cNvPr id="11" name="Footer Placeholder 10">
            <a:extLst xmlns:a="http://schemas.openxmlformats.org/drawingml/2006/main">
              <a:ext uri="{FF2B5EF4-FFF2-40B4-BE49-F238E27FC236}">
                <a16:creationId xmlns:a16="http://schemas.microsoft.com/office/drawing/2014/main" id="{BD5D3365-630B-7DA2-6578-D2DE7ACBBC0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100"/>
          </a:p>
        </p:txBody>
      </p:sp>
      <p:sp>
        <p:nvSpPr>
          <p:cNvPr id="3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076E58D8-94E3-59EF-6F5D-94479531D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24100"/>
            <a:ext cx="5534025" cy="3876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1. Открыть выбранный портфель в evaluate.py.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2. Заменить TRANS:C → TRANS:B.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    NPV: −505 → −581; VPUB: 1 199 → 1 243.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3. Изменить ставку / горизонт / веса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    без правки кода, показать новый расчёт.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4. Открыть недопустимый пример: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    увидеть порог, факт, запас и FAIL.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Инструкция — test-main/RUN.md;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650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расчёт офлайн после установки зависимостей.</a:t>
            </a:r>
          </a:p>
        </p:txBody>
      </p:sp>
      <p:sp>
        <p:nvSpPr>
          <p:cNvPr id="5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EC39CC4A-7702-F34C-BFC1-C34643FFF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457325"/>
            <a:ext cx="5534025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2100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Показать живой пересчёт</a:t>
            </a:r>
          </a:p>
        </p:txBody>
      </p:sp>
      <p:sp>
        <p:nvSpPr>
          <p:cNvPr id="27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B4FA777D-1E43-2118-018B-D684DB7E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104" y="2184252"/>
            <a:ext cx="5014766" cy="5975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12/12 тестов PASS; все 5 670 ABC сверены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с каноном. Максимальная ошибка 2,27 × 10⁻¹³.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F2F01BD9-1359-C69B-3F1A-A3653422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793" y="1813255"/>
            <a:ext cx="501476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7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Расчёт воспроизводится</a:t>
            </a:r>
          </a:p>
        </p:txBody>
      </p:sp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3C99D68F-34ED-A722-D7DB-03942B0B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5842" y="1521935"/>
            <a:ext cx="5394187" cy="1393857"/>
          </a:xfrm>
          <a:prstGeom xmlns:a="http://schemas.openxmlformats.org/drawingml/2006/main" prst="roundRect">
            <a:avLst>
              <a:gd name="adj" fmla="val 3585"/>
            </a:avLst>
          </a:prstGeom>
          <a:noFill xmlns:a="http://schemas.openxmlformats.org/drawingml/2006/main"/>
          <a:ln xmlns:a="http://schemas.openxmlformats.org/drawingml/2006/main" w="12700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4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32674159-B6E6-B9EF-D753-5EF1E687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104" y="3693012"/>
            <a:ext cx="5014766" cy="5975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FIRE:D3 · AGRI:C · TRANS:C · ENV:D3.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Предлагаемое финансирование C0: 1 104 млн.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7D84212-7716-6AFC-2CCA-1118E418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793" y="3322015"/>
            <a:ext cx="501476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7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Рекомендуем утвердить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520BED9B-3AD0-B986-23FF-346EFF8E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5842" y="3030695"/>
            <a:ext cx="5394187" cy="1393857"/>
          </a:xfrm>
          <a:prstGeom xmlns:a="http://schemas.openxmlformats.org/drawingml/2006/main" prst="roundRect">
            <a:avLst>
              <a:gd name="adj" fmla="val 3585"/>
            </a:avLst>
          </a:prstGeom>
          <a:noFill xmlns:a="http://schemas.openxmlformats.org/drawingml/2006/main"/>
          <a:ln xmlns:a="http://schemas.openxmlformats.org/drawingml/2006/main" w="12700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58865802-6967-7210-3371-DEA6828B5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105" y="5201772"/>
            <a:ext cx="5014766" cy="59753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Смету D3, плательщиков, совместимость</a:t>
            </a:r>
          </a:p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17212F"/>
                </a:solidFill>
                <a:latin typeface="Roboto"/>
                <a:ea typeface="Roboto"/>
                <a:cs typeface="Roboto"/>
              </a:defRPr>
            </a:pPr>
            <a:r>
              <a:rPr sz="1575">
                <a:solidFill>
                  <a:srgbClr val="17212F"/>
                </a:solidFill>
                <a:latin typeface="Roboto"/>
                <a:ea typeface="Roboto"/>
                <a:cs typeface="Roboto"/>
              </a:rPr>
              <a:t>требований и паспорт общественного доступа.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D2FEB2E-B2D7-376B-AFC1-B25E2E37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794" y="4830775"/>
            <a:ext cx="501476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75" b="1">
                <a:solidFill>
                  <a:srgbClr val="3357B8"/>
                </a:solidFill>
                <a:latin typeface="Roboto"/>
                <a:ea typeface="Roboto"/>
                <a:cs typeface="Roboto"/>
              </a:defRPr>
            </a:pPr>
            <a:r>
              <a:rPr sz="1875" b="1">
                <a:solidFill>
                  <a:srgbClr val="3357B8"/>
                </a:solidFill>
                <a:latin typeface="Roboto"/>
                <a:ea typeface="Roboto"/>
                <a:cs typeface="Roboto"/>
              </a:rPr>
              <a:t>До закупки подтвердить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95C5540-5014-B354-3651-51BA1275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5843" y="4539455"/>
            <a:ext cx="5394187" cy="1393857"/>
          </a:xfrm>
          <a:prstGeom xmlns:a="http://schemas.openxmlformats.org/drawingml/2006/main" prst="roundRect">
            <a:avLst>
              <a:gd name="adj" fmla="val 3585"/>
            </a:avLst>
          </a:prstGeom>
          <a:noFill xmlns:a="http://schemas.openxmlformats.org/drawingml/2006/main"/>
          <a:ln xmlns:a="http://schemas.openxmlformats.org/drawingml/2006/main" w="12700">
            <a:solidFill>
              <a:schemeClr val="accent2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solidFill>
                <a:schemeClr val="accent1"/>
              </a:solidFill>
            </a:endParaRPr>
          </a:p>
        </p:txBody>
      </p:sp>
      <p:sp>
        <p:nvSpPr>
          <p:cNvPr id="534" name="Rubric/source label">
            <a:extLst xmlns:a="http://schemas.openxmlformats.org/drawingml/2006/main">
              <a:ext uri="{FF2B5EF4-FFF2-40B4-BE49-F238E27FC236}">
                <a16:creationId xmlns:a16="http://schemas.microsoft.com/office/drawing/2014/main" id="{CF620CFB-836E-4026-9186-94A6A5EDC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47700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536172"/>
                </a:solidFill>
                <a:latin typeface="Roboto"/>
                <a:ea typeface="Roboto"/>
                <a:cs typeface="Roboto"/>
              </a:defRPr>
            </a:pPr>
            <a:r>
              <a:rPr sz="1050" b="0">
                <a:solidFill>
                  <a:srgbClr val="536172"/>
                </a:solidFill>
                <a:latin typeface="Roboto"/>
                <a:ea typeface="Roboto"/>
                <a:cs typeface="Roboto"/>
              </a:rPr>
              <a:t>Т1–Т5 · Для защиты нужен живой пересчёт. Python + pandas + numpy; команды запуска — test-main/RUN.md.</a:t>
            </a:r>
          </a:p>
        </p:txBody>
      </p:sp>
    </p:spTree>
    <p:extLst>
      <p:ext uri="{BB962C8B-B14F-4D97-AF65-F5344CB8AC3E}">
        <p14:creationId xmlns:p14="http://schemas.microsoft.com/office/powerpoint/2010/main" val="3366140372"/>
      </p:ext>
    </p:extLst>
  </p:cSld>
</p:sld>
</file>

<file path=ppt/theme/theme1.xml><?xml version="1.0" encoding="utf-8"?>
<a:theme xmlns:a="http://schemas.openxmlformats.org/drawingml/2006/main" name="Default Codex Theme">
  <a:themeElements>
    <a:clrScheme name="Theme 2">
      <a:dk1>
        <a:srgbClr val="000000"/>
      </a:dk1>
      <a:lt1>
        <a:srgbClr val="FFFFFF"/>
      </a:lt1>
      <a:dk2>
        <a:srgbClr val="0E2841"/>
      </a:dk2>
      <a:lt2>
        <a:srgbClr val="FAFCFE"/>
      </a:lt2>
      <a:accent1>
        <a:srgbClr val="3357B8"/>
      </a:accent1>
      <a:accent2>
        <a:srgbClr val="CFD2D9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Lora Roboto">
      <a:majorFont>
        <a:latin typeface="Lora"/>
        <a:ea typeface=""/>
        <a:cs typeface=""/>
      </a:majorFont>
      <a:minorFont>
        <a:latin typeface="Roboto"/>
        <a:ea typeface=""/>
        <a:cs typeface=""/>
      </a:minorFont>
    </a:fontScheme>
    <a:fmtScheme name="Theme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2026-09-12T19:16:32.1960000Z</dcterms:created>
  <dcterms:modified xsi:type="dcterms:W3CDTF">2026-09-12T19:16:32.1960000Z</dcterms:modified>
</coreProperties>
</file>