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10.dat" ContentType="application/x-fontdata"/>
  <Override PartName="/ppt/fonts/font11.dat" ContentType="application/x-fontdata"/>
  <Override PartName="/ppt/fonts/font12.dat" ContentType="application/x-fontdata"/>
  <Override PartName="/ppt/fonts/font13.dat" ContentType="application/x-fontdata"/>
  <Override PartName="/ppt/fonts/font14.dat" ContentType="application/x-fontdata"/>
  <Override PartName="/ppt/fonts/font15.dat" ContentType="application/x-fontdata"/>
  <Override PartName="/ppt/fonts/font16.dat" ContentType="application/x-fontdata"/>
  <Override PartName="/ppt/fonts/font17.dat" ContentType="application/x-fontdata"/>
  <Override PartName="/ppt/fonts/font18.dat" ContentType="application/x-fontdata"/>
  <Override PartName="/ppt/fonts/font19.dat" ContentType="application/x-fontdata"/>
  <Override PartName="/ppt/fonts/font2.dat" ContentType="application/x-fontdata"/>
  <Override PartName="/ppt/fonts/font20.dat" ContentType="application/x-fontdata"/>
  <Override PartName="/ppt/fonts/font21.dat" ContentType="application/x-fontdata"/>
  <Override PartName="/ppt/fonts/font22.dat" ContentType="application/x-fontdata"/>
  <Override PartName="/ppt/fonts/font23.dat" ContentType="application/x-fontdata"/>
  <Override PartName="/ppt/fonts/font24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fonts/font6.dat" ContentType="application/x-fontdata"/>
  <Override PartName="/ppt/fonts/font7.dat" ContentType="application/x-fontdata"/>
  <Override PartName="/ppt/fonts/font8.dat" ContentType="application/x-fontdata"/>
  <Override PartName="/ppt/fonts/font9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ca809bf9ba841e1" Type="http://schemas.openxmlformats.org/officeDocument/2006/relationships/officeDocument" Target="ppt/presentation.xml"/><Relationship Id="Rd3b1a7dadfbc4f8d" Type="http://schemas.openxmlformats.org/officeDocument/2006/relationships/extended-properties" Target="docProps/app.xml"/><Relationship Id="Rfcf7ebc2399a4b3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a2dbfd84c144266"/>
  </p:sldMasterIdLst>
  <p:notesMasterIdLst>
    <p:notesMasterId xmlns:r="http://schemas.openxmlformats.org/officeDocument/2006/relationships" r:id="R78cad29850a0498b"/>
  </p:notesMasterIdLst>
  <p:sldIdLst>
    <p:sldId xmlns:r="http://schemas.openxmlformats.org/officeDocument/2006/relationships" id="256" r:id="Rfc02866b03b2433d"/>
    <p:sldId xmlns:r="http://schemas.openxmlformats.org/officeDocument/2006/relationships" id="257" r:id="Rab919f6b83dc44f2"/>
    <p:sldId xmlns:r="http://schemas.openxmlformats.org/officeDocument/2006/relationships" id="258" r:id="Rd0276b5ce5344bc8"/>
    <p:sldId xmlns:r="http://schemas.openxmlformats.org/officeDocument/2006/relationships" id="259" r:id="Rdbc04b6f0d8d40e3"/>
    <p:sldId xmlns:r="http://schemas.openxmlformats.org/officeDocument/2006/relationships" id="260" r:id="R20ad4eca59f448a1"/>
    <p:sldId xmlns:r="http://schemas.openxmlformats.org/officeDocument/2006/relationships" id="261" r:id="Rd2a286782a344670"/>
    <p:sldId xmlns:r="http://schemas.openxmlformats.org/officeDocument/2006/relationships" id="262" r:id="R0c49a3c906f14442"/>
    <p:sldId xmlns:r="http://schemas.openxmlformats.org/officeDocument/2006/relationships" id="263" r:id="Rc8163c7587dd46b2"/>
    <p:sldId xmlns:r="http://schemas.openxmlformats.org/officeDocument/2006/relationships" id="264" r:id="R0cb647376d8c4639"/>
    <p:sldId xmlns:r="http://schemas.openxmlformats.org/officeDocument/2006/relationships" id="265" r:id="R84f206ed672a4023"/>
    <p:sldId xmlns:r="http://schemas.openxmlformats.org/officeDocument/2006/relationships" id="266" r:id="R5c0754f0083b46a3"/>
    <p:sldId xmlns:r="http://schemas.openxmlformats.org/officeDocument/2006/relationships" id="267" r:id="Rf24f9f902bdf4a12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3b4e872bb8224894"/>
      <p:italic xmlns:r="http://schemas.openxmlformats.org/officeDocument/2006/relationships" r:id="Rdaa7bc02915c40b4"/>
    </p:embeddedFont>
    <p:embeddedFont>
      <p:font typeface="Lora SemiBold"/>
      <p:regular xmlns:r="http://schemas.openxmlformats.org/officeDocument/2006/relationships" r:id="R834e6625f8994760"/>
      <p:bold xmlns:r="http://schemas.openxmlformats.org/officeDocument/2006/relationships" r:id="R802deabeda9b4abb"/>
      <p:italic xmlns:r="http://schemas.openxmlformats.org/officeDocument/2006/relationships" r:id="Rc4395bc28dd04721"/>
      <p:boldItalic xmlns:r="http://schemas.openxmlformats.org/officeDocument/2006/relationships" r:id="R6cc9a68c1e184938"/>
    </p:embeddedFont>
    <p:embeddedFont>
      <p:font typeface="OpenAI Sans"/>
      <p:regular xmlns:r="http://schemas.openxmlformats.org/officeDocument/2006/relationships" r:id="Rc138104829da450e"/>
      <p:bold xmlns:r="http://schemas.openxmlformats.org/officeDocument/2006/relationships" r:id="R8d057de5e5c9444e"/>
      <p:italic xmlns:r="http://schemas.openxmlformats.org/officeDocument/2006/relationships" r:id="R788376e9464c4ee3"/>
      <p:boldItalic xmlns:r="http://schemas.openxmlformats.org/officeDocument/2006/relationships" r:id="Rb71da49c291b43a7"/>
    </p:embeddedFont>
    <p:embeddedFont>
      <p:font typeface="Roboto"/>
      <p:regular xmlns:r="http://schemas.openxmlformats.org/officeDocument/2006/relationships" r:id="R8d096e01a3ec4892"/>
      <p:bold xmlns:r="http://schemas.openxmlformats.org/officeDocument/2006/relationships" r:id="R63f8b4c315f841f7"/>
      <p:italic xmlns:r="http://schemas.openxmlformats.org/officeDocument/2006/relationships" r:id="R08dded9370774826"/>
      <p:boldItalic xmlns:r="http://schemas.openxmlformats.org/officeDocument/2006/relationships" r:id="R72a35d53963e4ef9"/>
    </p:embeddedFont>
    <p:embeddedFont>
      <p:font typeface="Roboto Medium"/>
      <p:regular xmlns:r="http://schemas.openxmlformats.org/officeDocument/2006/relationships" r:id="R8cf4090f0f364c73"/>
      <p:italic xmlns:r="http://schemas.openxmlformats.org/officeDocument/2006/relationships" r:id="Ree2908c787cd4b27"/>
    </p:embeddedFont>
    <p:embeddedFont>
      <p:font typeface="Roboto SemiBold"/>
      <p:regular xmlns:r="http://schemas.openxmlformats.org/officeDocument/2006/relationships" r:id="Rbf62a7bfb94c4df1"/>
      <p:bold xmlns:r="http://schemas.openxmlformats.org/officeDocument/2006/relationships" r:id="R201dd876a82547ca"/>
      <p:italic xmlns:r="http://schemas.openxmlformats.org/officeDocument/2006/relationships" r:id="Rc558899eb98942cf"/>
      <p:boldItalic xmlns:r="http://schemas.openxmlformats.org/officeDocument/2006/relationships" r:id="R2e96d87ed5e8449b"/>
    </p:embeddedFont>
    <p:embeddedFont>
      <p:font typeface="Roboto Serif 14pt"/>
      <p:regular xmlns:r="http://schemas.openxmlformats.org/officeDocument/2006/relationships" r:id="Ra48f757f708b4370"/>
      <p:bold xmlns:r="http://schemas.openxmlformats.org/officeDocument/2006/relationships" r:id="R339a89a016a142ac"/>
      <p:italic xmlns:r="http://schemas.openxmlformats.org/officeDocument/2006/relationships" r:id="Rb88b0a5bce5b44a3"/>
      <p:boldItalic xmlns:r="http://schemas.openxmlformats.org/officeDocument/2006/relationships" r:id="R42d4c65a35e140a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8dded9370774826" Type="http://schemas.openxmlformats.org/officeDocument/2006/relationships/font" Target="fonts/font13.dat"/><Relationship Id="R0c49a3c906f14442" Type="http://schemas.openxmlformats.org/officeDocument/2006/relationships/slide" Target="slides/slide7.xml"/><Relationship Id="R0cb647376d8c4639" Type="http://schemas.openxmlformats.org/officeDocument/2006/relationships/slide" Target="slides/slide9.xml"/><Relationship Id="R201dd876a82547ca" Type="http://schemas.openxmlformats.org/officeDocument/2006/relationships/font" Target="fonts/font18.dat"/><Relationship Id="R20ad4eca59f448a1" Type="http://schemas.openxmlformats.org/officeDocument/2006/relationships/slide" Target="slides/slide5.xml"/><Relationship Id="R2e96d87ed5e8449b" Type="http://schemas.openxmlformats.org/officeDocument/2006/relationships/font" Target="fonts/font20.dat"/><Relationship Id="R339a89a016a142ac" Type="http://schemas.openxmlformats.org/officeDocument/2006/relationships/font" Target="fonts/font22.dat"/><Relationship Id="R3b4e872bb8224894" Type="http://schemas.openxmlformats.org/officeDocument/2006/relationships/font" Target="fonts/font.dat"/><Relationship Id="R42d4c65a35e140a5" Type="http://schemas.openxmlformats.org/officeDocument/2006/relationships/font" Target="fonts/font24.dat"/><Relationship Id="R4d10a2e4c719455d" Type="http://schemas.openxmlformats.org/officeDocument/2006/relationships/tableStyles" Target="tableStyles.xml"/><Relationship Id="R5a2dbfd84c144266" Type="http://schemas.openxmlformats.org/officeDocument/2006/relationships/slideMaster" Target="slideMasters/slideMaster1.xml"/><Relationship Id="R5c0754f0083b46a3" Type="http://schemas.openxmlformats.org/officeDocument/2006/relationships/slide" Target="slides/slide11.xml"/><Relationship Id="R63f8b4c315f841f7" Type="http://schemas.openxmlformats.org/officeDocument/2006/relationships/font" Target="fonts/font12.dat"/><Relationship Id="R640c8954109045b1" Type="http://schemas.openxmlformats.org/officeDocument/2006/relationships/presProps" Target="presProps.xml"/><Relationship Id="R6cc9a68c1e184938" Type="http://schemas.openxmlformats.org/officeDocument/2006/relationships/font" Target="fonts/font6.dat"/><Relationship Id="R72a35d53963e4ef9" Type="http://schemas.openxmlformats.org/officeDocument/2006/relationships/font" Target="fonts/font14.dat"/><Relationship Id="R788376e9464c4ee3" Type="http://schemas.openxmlformats.org/officeDocument/2006/relationships/font" Target="fonts/font9.dat"/><Relationship Id="R78cad29850a0498b" Type="http://schemas.openxmlformats.org/officeDocument/2006/relationships/notesMaster" Target="notesMasters/notesMaster1.xml"/><Relationship Id="R7d55e5ae8002429f" Type="http://schemas.openxmlformats.org/officeDocument/2006/relationships/viewProps" Target="viewProps.xml"/><Relationship Id="R802deabeda9b4abb" Type="http://schemas.openxmlformats.org/officeDocument/2006/relationships/font" Target="fonts/font4.dat"/><Relationship Id="R834e6625f8994760" Type="http://schemas.openxmlformats.org/officeDocument/2006/relationships/font" Target="fonts/font3.dat"/><Relationship Id="R84f206ed672a4023" Type="http://schemas.openxmlformats.org/officeDocument/2006/relationships/slide" Target="slides/slide10.xml"/><Relationship Id="R8cf4090f0f364c73" Type="http://schemas.openxmlformats.org/officeDocument/2006/relationships/font" Target="fonts/font15.dat"/><Relationship Id="R8d057de5e5c9444e" Type="http://schemas.openxmlformats.org/officeDocument/2006/relationships/font" Target="fonts/font8.dat"/><Relationship Id="R8d096e01a3ec4892" Type="http://schemas.openxmlformats.org/officeDocument/2006/relationships/font" Target="fonts/font11.dat"/><Relationship Id="Ra48f757f708b4370" Type="http://schemas.openxmlformats.org/officeDocument/2006/relationships/font" Target="fonts/font21.dat"/><Relationship Id="Rab919f6b83dc44f2" Type="http://schemas.openxmlformats.org/officeDocument/2006/relationships/slide" Target="slides/slide2.xml"/><Relationship Id="Rb71da49c291b43a7" Type="http://schemas.openxmlformats.org/officeDocument/2006/relationships/font" Target="fonts/font10.dat"/><Relationship Id="Rb88b0a5bce5b44a3" Type="http://schemas.openxmlformats.org/officeDocument/2006/relationships/font" Target="fonts/font23.dat"/><Relationship Id="Rbf62a7bfb94c4df1" Type="http://schemas.openxmlformats.org/officeDocument/2006/relationships/font" Target="fonts/font17.dat"/><Relationship Id="Rc138104829da450e" Type="http://schemas.openxmlformats.org/officeDocument/2006/relationships/font" Target="fonts/font7.dat"/><Relationship Id="Rc4395bc28dd04721" Type="http://schemas.openxmlformats.org/officeDocument/2006/relationships/font" Target="fonts/font5.dat"/><Relationship Id="Rc558899eb98942cf" Type="http://schemas.openxmlformats.org/officeDocument/2006/relationships/font" Target="fonts/font19.dat"/><Relationship Id="Rc8163c7587dd46b2" Type="http://schemas.openxmlformats.org/officeDocument/2006/relationships/slide" Target="slides/slide8.xml"/><Relationship Id="Rd0276b5ce5344bc8" Type="http://schemas.openxmlformats.org/officeDocument/2006/relationships/slide" Target="slides/slide3.xml"/><Relationship Id="Rd1c34a95e7f74a5d" Type="http://schemas.openxmlformats.org/officeDocument/2006/relationships/theme" Target="theme/theme1.xml"/><Relationship Id="Rd2a286782a344670" Type="http://schemas.openxmlformats.org/officeDocument/2006/relationships/slide" Target="slides/slide6.xml"/><Relationship Id="Rdaa7bc02915c40b4" Type="http://schemas.openxmlformats.org/officeDocument/2006/relationships/font" Target="fonts/font2.dat"/><Relationship Id="Rdbc04b6f0d8d40e3" Type="http://schemas.openxmlformats.org/officeDocument/2006/relationships/slide" Target="slides/slide4.xml"/><Relationship Id="Ree2908c787cd4b27" Type="http://schemas.openxmlformats.org/officeDocument/2006/relationships/font" Target="fonts/font16.dat"/><Relationship Id="Rf24f9f902bdf4a12" Type="http://schemas.openxmlformats.org/officeDocument/2006/relationships/slide" Target="slides/slide12.xml"/><Relationship Id="Rfc02866b03b2433d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21d376d26740c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7425c13828d4845" Type="http://schemas.openxmlformats.org/officeDocument/2006/relationships/slide" Target="../slides/slide1.xml"/><Relationship Id="Ra8df1440a6fb482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175e42720ea4a0c" Type="http://schemas.openxmlformats.org/officeDocument/2006/relationships/notesMaster" Target="../notesMasters/notesMaster1.xml"/><Relationship Id="R1674f3ee99a941b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d3310fc786847ec" Type="http://schemas.openxmlformats.org/officeDocument/2006/relationships/slide" Target="../slides/slide3.xml"/><Relationship Id="R31a6d00201ef4f2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ccd272ce9184361" Type="http://schemas.openxmlformats.org/officeDocument/2006/relationships/slide" Target="../slides/slide4.xml"/><Relationship Id="R762ac4b1edbd459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16f37d97b394a0e" Type="http://schemas.openxmlformats.org/officeDocument/2006/relationships/notesMaster" Target="../notesMasters/notesMaster1.xml"/><Relationship Id="R7d076200be1d44c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15aa443878740d3" Type="http://schemas.openxmlformats.org/officeDocument/2006/relationships/notesMaster" Target="../notesMasters/notesMaster1.xml"/><Relationship Id="Rc53c9ed6cbd6404f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dce81071fb542bc" Type="http://schemas.openxmlformats.org/officeDocument/2006/relationships/slide" Target="../slides/slide7.xml"/><Relationship Id="Ra1c2e9bdcb2b4e8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a6a3c157282a44b9" Type="http://schemas.openxmlformats.org/officeDocument/2006/relationships/notesMaster" Target="../notesMasters/notesMaster1.xml"/><Relationship Id="Rb8c83fda2eac4c8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56eb32ea30146ca" Type="http://schemas.openxmlformats.org/officeDocument/2006/relationships/notesMaster" Target="../notesMasters/notesMaster1.xml"/><Relationship Id="R92755ca248974f93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4c260136b7e4508" Type="http://schemas.openxmlformats.org/officeDocument/2006/relationships/notesMaster" Target="../notesMasters/notesMaster1.xml"/><Relationship Id="Rbd00067480c74e5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4409d7ea1814e75" Type="http://schemas.openxmlformats.org/officeDocument/2006/relationships/notesMaster" Target="../notesMasters/notesMaster1.xml"/><Relationship Id="R3fd1dab0a74a4fe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5961b6afbc04879" Type="http://schemas.openxmlformats.org/officeDocument/2006/relationships/slide" Target="../slides/slide12.xml"/><Relationship Id="Rf6b29afcb4f94bb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 И СТАТУС. Рекомендуется портфель №10: FIRE:D3 + AGRI:C + TRANS:C + ENV:D3. Расчёт по исходным данным кейса и допущениям команды от 12.09.2026.</a:t>
            </a:r>
            <a:endParaRPr/>
          </a:p>
          <a:p xmlns:a="http://schemas.openxmlformats.org/drawingml/2006/main">
            <a:r>
              <a:t>Задача: выбрать четыре разных лота из восьми, обосновать режимы доступа, финансирование и реализацию при девяти ограничениях BASE и STRESS. Данные кейса синтетические; полученные суммы являются результатом модели, а не действующими контрактами или измеренными эффектами.</a:t>
            </a:r>
            <a:endParaRPr/>
          </a:p>
          <a:p xmlns:a="http://schemas.openxmlformats.org/drawingml/2006/main">
            <a:r>
              <a:t>Выбранные четыре территориальных архетипа: Siberian, South, Central, VolgaCaspian. Две группы возможностей: EO и PNT/InSAR. Два лота с общественным ядром: FIRE и ENV. Остальные два работают в C. Общественное ядро и количество групп ровно на минимуме ограничения.</a:t>
            </a:r>
            <a:endParaRPr/>
          </a:p>
          <a:p xmlns:a="http://schemas.openxmlformats.org/drawingml/2006/main">
            <a:r>
              <a:t>Итог: C0=1104,00 млн руб.; OPEX=300,55 млн руб./год; CASH=398,00 млн руб./год; операционный остаток=97,45 млн руб./год; VPUB=1199 млн руб./год. NPV при ставке 10% и горизонте 10 лет равен −505,21194 млн руб.; PI=0,54238; SROI=2,49677. Капитальное финансирование необходимо обсудить отдельно от операционного покрытия.</a:t>
            </a:r>
            <a:endParaRPr/>
          </a:p>
          <a:p xmlns:a="http://schemas.openxmlformats.org/drawingml/2006/main">
            <a:r>
              <a:t>BASE: лимит1300, запас196. STRESS: лимит1180, запас76 млн руб. Все девять ограничений выполнены. При полном отсутствии ожидаемой экономии D3 и сохранении координационных расходов C0=1141,8, запас38,2 — также PASS. Это устойчивость допустимости, а не подтверждение выгоды D3.</a:t>
            </a:r>
            <a:endParaRPr/>
          </a:p>
          <a:p xmlns:a="http://schemas.openxmlformats.org/drawingml/2006/main">
            <a:r>
              <a:t>ИСТОЧНИКИ: ЗАПИСКА.md, «Резюме», П4, П6; СТРЕСС-РЕЗЮМЕ.md; test-main/output/pareto_front_report.csv, строка №10; test-main/data/lots.csv; test-main/config/case_config.json.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П1. ПОТРЕБНОСТИ РЕГИОНОВ. FIRE / Siberian: пожарные службы, лесничества, муниципалитеты получают раннее обнаружение очагов, площади и динамики пожара; информация помогает мобилизовать силы и уменьшать ущерб. ENV / VolgaCaspian: экологические органы и население получают мониторинг загрязнений, предупреждения и основание для реагирования. В обоих лотах D3 сохраняет бесплатный базовый общественный слой 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AGRI / South: хозяйства и агрохолдинги используют мониторинг полей, прогноз урожая и точное земледелие; ожидаемый эффект — рациональное расходование ресурсов и снижение потерь. TRANS / Central: транспортные и логистические операторы используют мониторинг потоков и инфраструктуры; ожидаются своевременные решения против заторов и аварий. TRANS имеет readiness 4,8 и resilience 4,4 по исходным данным.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Цепочки «потребность → данные/сервис → действие → эффект» являются содержательным обоснованием. Кейс не даёт наблюдений, позволяющих доказать конкретное количество предотвращённых пожаров, гектаров или рублей ущерба. Не заявляем достигнутые результаты. VPUB — отдельная условная оценка общественной пользы. Она не прибавляется к CASH; платный сервис также может иметь общественный эффект. C сохраняет62% исходного VPUB, но не содержит обязательного бесплатного слоя.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Почему не остальные четыре лота: FLOOD — значимый альтернативный сервис Дальнего Востока, лучший денежный портфель №1 включает его вместо FIRE, но по принятому правилу уступает по качеству и общему выбору. INFRA даёт собственный общественный эффект (исходный VPUB 300); не входит в итог из-за сравнения портфелей и ограничения четырьмя лотами, а не из-за «нулевой дополнительной пользы». ARCTIC: исходные C0 460/OPEX 140, readiness 3,2, resilience 2,8; дорого в данном пространстве решений. SSA — федеральный лот, не добавляет региональный архетип, t_rep0,64. Низкие показатели отдельного лота не равны автоматическому нарушению портфельного ограничения. Отсутствие ARCTIC/SSA на фронте относится к заданным метрикам и допущениям, не доказывает ненужность сервисов.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П1; test-main/data/lots.csv; PARETO_FRONT.md, структура фронта. Концептуальный фон: Payson, Public goods and the evaluation of complex outcomes in space economy (локальный PDF); OECD, The Space Economy at a Glance 2026 (Space Economy.pdf). Литература не является источником численных коэффициентов 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П2. МОДЕЛЬ, ИСТОЧНИКИ, ОГРАНИЧЕНИЯ. Канонический case_core.py, data/ и config/ организаторов не изменены. Каждый режим умножает пять исходных денежных/общественных величин лота: C0, OPEX, VPUB, anchor_cash, commercial_cash. Для портфеля суммы этих величин складываются; readiness, resilience, scale и t_rep усредняются. Режим не изменяет четыре индекса качества.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Порядок коэффициентов: (k_C0,k_OPEX,k_VPUB,k_anchor,k_commercial). A=(1,05;1,05;1;1;0,25), ядро=True. B=(1;1;0,82;0,8;0,70), ядро=False. C=(0,98;0,95;0,62;0,45;0,95), ядро=False. D1=(1,07;1,08;1;1;0,34), D3=(1,007;1,0175;1;1;0,25), оба проектно сохраняют общественное ядро.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Финансовые формулы: CASH=anchor+commercial; net=CASH−OPEX; kcash=CASH/OPEX. AF(r,T)=sum[t=1..T](1+r)^(-t). NPV=−C0+net×AF; PI=1+NPV/C0; SROI=VPUB×AF/(C0+OPEX×AF). PI безубыточен при1, не при0. Денежный поток и общественная оценка не складываются в рублях. Нормированные критерии позднее могут складываться при ранжировании: это иная операция.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Три блока: F_fin=z(NPV)+z(PI)+z(kcash); F_public=z(VPUB)+z(SROI)+z(public_core_fraction); F_quality=z(t_rep)+z(readiness)+z(resilience)+z(scale). z=(x−min)/(max−min) по всем1056 допустимым кандидатам; все показатели направлены на максимум. Деление числа лотов ядра на 4 не меняет minmax-сопоставление. Нормировка устраняет разный масштаб единиц, но не предпочтения команды.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Ставка10% и горизонт10 лет — допущения команды, а не нормативно подтверждённая «типовая социальная ставка». Потоки принимаются постоянными; фазы запуска не превращены в помесячный дисконтированный график. Модель не задаёт эластичность спроса, натуральный объём услуг, численные вероятности рисков, наблюдаемый ущерб, подробную смету интеграции и точную содержательную расшифровку t_rep. Доли D3 требуют проверки тендером. Изменение источников/режимов/нормировки требует пересчёта всего пространства.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П2; test-main/case_core.py, team_model.py, user_modes.py, data/access_modes.csv; config/case_config.json.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П4. ПОЛНЫЙ ПЕРЕБОР И ВЫБОР. Два пользовательских механизма исследованы отдельными прогонами: в одном портфеле активен только один D, как в шаблоне организаторов. Объединённое пространство без повторения ABC: C(8,4)×(4^4+4^4−3^4)=30170. После допуска механизма D3 остаётся20161, после девяти канонических ограничений одновременно BASE и STRESS —1056, на фронте minmax —60. Это не70×5^4 и не смешивание D1 с D3.</a:t>
            </a:r>
            <a:endParaRPr/>
          </a:p>
          <a:p xmlns:a="http://schemas.openxmlformats.org/drawingml/2006/main">
            <a:r>
              <a:t>X доминирует Y, если не хуже по всем трём блокам и лучше хотя бы по одному. Фронт оставляет несравнимые альтернативы; сам по себе он не выбирает единственного победителя. Правило записки: минимизировать сумму рангов по трём блокам на фронте; при ничьей максимизировать S=F_fin+F_public+F_quality. №10: ранги2/47/22, сумма 71; №11:6/43/22, также71. Разрешение ничьей:6,689142 против6,569818. Выбран №10, который также максимизирует S на всём рассматриваемом фронте. Равная сумма десяти компонент даёт блокам неявные веса3:3:4; это открытое предпочтение команды, а не выбор без весов.</a:t>
            </a:r>
            <a:endParaRPr/>
          </a:p>
          <a:p xmlns:a="http://schemas.openxmlformats.org/drawingml/2006/main">
            <a:r>
              <a:t>Альтернативы: №1 FLOOD:D3 AGRI:C TRANS:C ENV:D3, NPV−479,805,VPUB 1239,F_quality2,508,запас55,86 — лучший денежный результат. №11 FIRE:D3 AGRI:C TRANS:B ENV:D3, NPV−580,874,VPUB 1243,качество3,запас71 — выше польза, меньше денег. №30 FIRE:D3 FLOOD:D3 AGRI:D3 TRANS:D3, NPV−1281,726,VPUB 1610,качество1,548,запас1,81 — максимум пользы, но kcash 0,948 и откат D→A нарушает STRESS. №40 AGRI:B INFRA:B TRANS:D1 ENV:D1, NPV−675,643,VPUB 1014,6,качество3,413,запас42,9 — максимум качества, общественный показатель близок к порогу. №22 FIRE:D3 AGRI:D3 TRANS:D3 ENV:D3: лучший по общественному блоку с безопасным чистым откатом; VPUB 1370,NPV−1250,416,kcash 0,930,SROI 2,783.</a:t>
            </a:r>
            <a:endParaRPr/>
          </a:p>
          <a:p xmlns:a="http://schemas.openxmlformats.org/drawingml/2006/main">
            <a:r>
              <a:t>Цена выбранного компромисса: общественный ранг47/60, ядро2 и группы2 ровно на минимуме; AGRI/TRANS в C сохраняют62% исходного VPUB. Нет лотов Дальнего Востока/Арктики/федерального SSA. №10 не лучший по всем отдельным метрикам.</a:t>
            </a:r>
            <a:endParaRPr/>
          </a:p>
          <a:p xmlns:a="http://schemas.openxmlformats.org/drawingml/2006/main">
            <a:r>
              <a:t>Устойчивость: threshold-нормировка даёт61 элемент,57 общих с60 minmax. При S_eq=F_fin/3+F_public/3+F_quality/4 №10 также лидер. Это локальная проверка, не доказательство при любых весах. Лучший ABC A+C+C+A имеет S6,488869 против6,689142: уступает по деньгам/пользе, равен по качеству. Все1056 имеют отрицательный NPV при10%/10 лет; PI у всех ниже1, но не обязательно отрицателен.</a:t>
            </a:r>
            <a:endParaRPr/>
          </a:p>
          <a:p xmlns:a="http://schemas.openxmlformats.org/drawingml/2006/main">
            <a:r>
              <a:t>ИСТОЧНИКИ: ЗАПИСКА.md, П4; PARETO_FRONT.md; test-main/pareto_search.py, pareto_report.py, team_model.py; output/pareto_front_report.csv.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D3: ОБОСНОВАНИЕ И САМООГРАНИЧЕНИЕ. Для FIRE и ENV повторно используется общий EO-компонент приёма спутниковых данных и первичной обработки. Карты, пороги тревог, интеграции с региональными службами и локальная эксплуатация сохраняются в затратах соответствующих лотов. Не предполагается совместное использование всей инфраструктуры или отсутствие региональных расходов.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Формальный допуск: минимум два лота именно в D3; пересечение групп возможностей всех выбранных D3-лотов непусто. FIRE и ENV имеют EO. Это необходимое условие отбора, не доказательство совместимых требований к данным, срокам, лицензиям или экономии. Проверка допуска реализована в pareto_search; evaluate.py сам по себе не отвергает любой несовместимый D3-портфель.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Проектные доли:20% стартовой сметы A могут быть общими, экономия на этой части30%;25% годовой сметы A общие, экономия на ней20%. Координация стоит дополнительно2% исходного C0 и2% исходного OPEX. Поэтому k_C0=1,05×(1−0,20×0,30)+0,02=1,007; k_OPEX=1,05×(1−0,25×0,20)+0,02=1,0175. k_VPUB=1,k_anchor=1,k_commercial=0,25; общественное ядро=True. Все четыре доли и координация — гипотезы команды, а не опубликованные нормативы или подтверждённые скидки поставщика.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паре FIRE+ENV самостоятельный A стоит630 на запуск и168 ежегодно. Общая затрагиваемая часть126 и42 соответственно. Валовая экономия37,8 и8,4, координация12 и3,2: чистая экономия25,8 млн руб. C0 и5,2 млн руб./год OPEX, ΔNPV 57,752. Пороги безубыточности экономии на общей части:9,52% C0 и7,62% OPEX. Лишь при подтверждении общей сметой и распределением расходов можно считать снижение затрат обоснованным. Требуются техническая спецификация, сопоставимые раздельное/совместное предложения поставщиков, распределение расходов и паспорт бесплатного доступа; до этого D3 — проверяемая схема закупки.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D1 тоже рассматривался: общественное ядро A плюс платная надстройка, +2% исходного C0, +3% OPEX, захват20% разрыва коммерческих коэффициентов B−A:0,25+0,20×(0,70−0,25)=0,34. Он не вошёл в выбранный портфель. При theta0,20 надстройка FIRE не окупается (theta*=0,228); на высоких коммерческих базах окупаемость условна подтверждением спроса. D2,D4–D7 из d_type.md исключены из текущего перебора по обоснованиям user_modes.py. Статьи поддерживают логику доступа/закупки/разделения рисков, но не подтверждают численные доли 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П4–П5; test-main/user_modes.py; d_type_formal.md; d_type.md; test-main/data/lots.csv.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П3. ФИНАНСОВАЯ СХЕМА. Все суммы в млн руб.; C0 разовый, прочие потоки годовые. CASH = anchor + commercial = 163,75 + 234,25 = 398,00. Якорные поступления: 130 от FIRE/ENV + 33,75 от AGRI/TRANS. Коммерческие поступления: 30 от FIRE/ENV + 204,25 от AGRI/TRANS. Остаточный якорный поток в режиме C сохраняется по коэффициентам кейса; его конкретного плательщика и контракт необходимо подтвердить, новых плательщиков модель не определяет. OPEX 300,55. Операционный остаток97,45, kcash 1,32424. Номинальные поступления покрывают эксплуатацию без ежегодной эксплуатационной субсидии; это не означает возврата первоначальных затрат.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 r10%,T10 лет: NPV−505,21194; PI 0,54238; IRR−2,2065%; простая окупаемость11,3289 года, за пределами горизонта. SROI 2,49677 сопоставляет дисконтированную условную общественную пользу и затраты. VPUB 1199 не является денежной выручкой и не прибавляется к столбцу CASH. Индексы качества: t_rep0,73, readiness 4,525, resilience 4,05, scale 4,675.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Предлагаемая схема финансирования: межрегиональный заказчик финансирует весь стартовый C0 1104 капитальным грантом/целевым трансфертом. Конкретный бюджетный администратор, программа и юридическая форма не подтверждены. Программа «Кадры для космоса» не заявляется подтверждённым источником этих денег. Якорные платежи идут по контрактам заказчиков, коммерческие — по подпискам пользователей; оператор оплачивает текущую эксплуатацию. Капитальный риск несёт заказчик, рыночный риск — коммерческий оператор.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Проектные транши20/50/30%:20% после утверждения портфеля и D3 (Т0),50% после заключения контрактов (Т1),30% после приёмки, SLA и проверки переносимости (Т2). Это предлагаемая схема; точные даты и доступность средств согласуются до закупки. Стартовые затраты не уменьшаются от изменения источника финансирования.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Трансферт505,21 — расчётная величина, обнуляющая NPV оставшейся финансируемой части при указанных ставке/горизонте; он не тождествен предлагаемому полному капитальному финансированию1104 и не меняет реальный C0. Другие рассчитанные условия денежной безубыточности из записки: увеличение ежегодного net на 82,22; либо ставка5% и горизонт20 лет дают NPV+110,44 при тех же постоянных потоках. Поэтому не заявляем отрицательный NPV при любой возможной ставке/любом горизонте. При фиксированной10% даже бесконечный постоянный net выбранного варианта не возвращает C0.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П3, П9; test-main/team_model.py, evaluate.py; output/pareto_front_report.csv, №10. Все схемы финансирования/траншей являются предложениями команды.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П5. РОЛИ, ДОСТУП, ДОГОВОРЫ. D3/FIRE+ENV: межрегиональный заказчик организует совместную закупку и оплачивает предусмотренные платежи; оператор общего EO-компонента поставляет сервис. Профильные службы используют и совместно с заказчиком принимают результаты; население получает общественный базовый слой. Паспорт доступа фиксирует получателей, бесплатность, недискриминационность и своевременность. Критические предупреждения нельзя задерживать ради премиальной подписки. Отдельная региональная адаптация не исключается из сметы.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C/AGRI+TRANS: коммерческие пользователи — заказчики, плательщики и принимающая сторона платной подписки; оператор её поставляет и несёт риск спроса. Помимо подписок, модель сохраняет якорные33,75 млн руб./год в C; их плательщик и контракт ещё подлежат подтверждению. Обязательного бесплатного базового слоя нет, но модель сохраняет62% исходной условной общественной ценности.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Предлагаемые условия: D3-договор на 3 года с конкурентным пересмотром не реже одного раза в3 года; C — годовая подписка с возможностью непродления. SLA и критерии приёмки задаются заранее. Повторные нарушения SLA — основание досрочного расторжения; платежи уменьшаются при нарушении SLA, но точную формулу штрафа ещё требуется согласовать. Не заявляем юридически утверждённый контракт или готовую штрафную сетку.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сохранения конкуренции нужны открытые форматы/API, документированная схема данных, права на доступ и экспорт результатов, документация эксплуатации и обязанность передачи данных следующему оператору. Это снижает стоимость смены, но не создаёт альтернативных поставщиков спутниковых данных там, где их нет.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Распределение рисков: капитальный/бюджетный риск — публичный заказчик; операционный SLA-риск и исполнение — оператор; рыночный риск C — коммерческий оператор. Общий EO-компонент создаёт коррелированный риск двух регионов. Приёмка должна проверять не только работоспособность, но и бесплатный слой, своевременность, переносимость, границы общей/локальной сметы.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П5, П7, П9. Концептуальные источники: Melamed et al., The rise and consequences of evolving public-private partnerships; Zancan et al., Navigating procurement strategies adoption in the New Space transition; Takata &amp; Hidaka, New public-private partnership based on the interactive collaboration — локальные PDF. Из них не заимствованы неподтверждённые числа/сроки.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П6. ОФИЦИАЛЬНЫЙ STRESS И ОТДЕЛЬНАЯ ПРОВЕРКА D3. В каноническом стресс-сценарии изменяется только предел C0:1300→1180. Смета1104, выручка, OPEX, режимы и остальные восемь требований не меняются. Поэтому NPV и прочие показатели для фиксированного портфеля те же; запас C0 уменьшается196→76. Состав портфеля и базовый план запуска сохраняются. Это не доказательство неизменности всех реальных условий закупки при урезании бюджета.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Девять условий:4 уникальных лота;≥3 нефедеральных архетипа (факт4);≥2 группы (2);≥2 лота общественного ядра (2);C0≤1300/1180 (1104);OPEX≤360 (300,55);VPUB≥1000 (1199);kcash≥0,6 (1,32424);t_rep≥0,63 (0,73). Отдельных порогов readiness/resilience/scale нет. Все девять PASS в обоих сценариях.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Отдельный тест гипотезы D3 сохраняет координационные2% расходов. При100% ожидаемой экономии: коэффициенты1,007/1,0175,C0 1104,OPEX 300,55,NPV−505,21,kcash 1,324,SROI 2,497,запас76. При50%:1,0385/1,04375,C0 1122,9,OPEX 304,75,NPV−549,92,kcash 1,306,SROI 2,460,запас57,1. При0%:1,07/1,07,C0 1141,8,OPEX 308,95,NPV−594,63,kcash 1,288,SROI 2,423,запас38,2. Все условия BASE/STRESS выполнены.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Чистый отказ от D3 до расходов — другой сценарий: FIRE:A AGRI:C TRANS:C ENV:A, C0 1129,8,OPEX 305,75,NPV−562,96,запас50,2. Его нельзя смешивать с провалом после оплаты координации.18 из 60 портфелей старого фронта нарушают STRESS при чистом откате D→A; выбранный не входит в эти18. Неподтверждение D3 ухудшает экономику, хотя не лишает выбранный портфель допустимости.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Предельный C0 бюджета выбранного номинального портфеля1104 (сокращение15,1% против исходных1300); официальное сокращение9,2%. Остаток бюджета не является автоматически свободными деньгами на незаложенные резервы: любые новые расходы надо включать в смету и пересчитывать.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П5–П6; СТРЕСС-РЕЗЮМЕ.md; test-main/config/case_config.json; case_core.py; user_modes.py; d_type_formal.md.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П7. ПОРТФЕЛЬНЫЕ РИСКИ И КОНКУРЕНЦИЯ. Численные вероятности кейс не задаёт. Оценки вероятности/силы качественные, это не вероятностная модель потерь.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Экономия D3 не подтверждена: средняя качественная вероятность, среднее влияние на финансы. Нужны сопоставимые предложения раздельной и совместной закупки, распределение общих/локальных затрат, независимый аудит до подписания. При нулевой экономии NPV−594,63 вместо−505,21, но запас STRESS38,2. Аудит не превращает оценку в гарантированную будущую экономию.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Один EO-поставщик обслуживает FIRE+ENV: общий отказ затрагивает два лота и два региона. Открытые интерфейсы, права экспорта, документация передачи и конкурсный пересмотр раз в3 года снижают привязку. Они не устраняют дефицит реальных альтернативных источников данных и не гарантируют непрерывность миграции.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Коммерческий спрос: пилотные договоры агрохолдингов и транспортных операторов до масштабирования, мониторинг CRM/выручки, ежегодный финансовый аудит. Доля совокупной commercial 234,25/398=58,9%; у AGRI+TRANS коммерческие204,25, ещё30 у FIRE+ENV. Поэтому порог92,9% относится именно к падению всей коммерческой выручки при неизменных anchor 163,75 и OPEX 300,55. При таком падении commercial 16,58 и kcash 0,6 — формальная допустимость на границе, а не операционная самоокупаемость. Для kcash 1 порог падения всей commercial 41,6%. При обнулении всей commercial kcash 0,545, FAIL. При обнулении только AGRI+TRANS kcash≈0,645, формальный порог ещё выполнен. Пилотные продажи не гарантируют полный прогноз спроса.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FIRE имеет resilience 3,5 против портфельных4,05. Численный индекс указывает на относительную слабость, но не задаёт вероятность сбоя; отдельного порога resilience в кейсе нет. Предлагаются резервный источник данных/канал и операционный резерв. Они требуют проверки технической доступности и отдельной цены; не включены как бесплатное уже обеспеченное преимущество. Простой пожарного сервиса влияет именно на раннее предупреждение.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П7; test-main/data/lots.csv; расчёт №10. Порог41,6% выведен из тех же потоков:97,45/234,25.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П8. МЕЖРЕГИОНАЛЬНОЕ ТИРАЖИРОВАНИЕ. Повторно используемая часть: EO-цепочка первичного приёма/обработки данных, согласованные форматы и API, шаблон договора и паспорта доступа, инструмент расчёта и проверки портфеля. Распространяется проверенный пакет спецификаций и правил приёмки, а не только программный экран.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Локально сохраняются: карты и зоны мониторинга, пороги тревог, интеграции с пожарными/экологическими службами, регламенты реагирования, региональные readiness/resilience и местная эксплуатация. Их расходы не исчезают из D3. До масштабирования проверяются совместимость требований, качество/сроки данных, общая смета и распределение затрат.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Пилот FIRE+ENV должен дать документированную спецификацию общего компонента, результаты приёмки/SLA и перечень выявленных проблем; эти знания передаются следующему региону. Кандидат из записки — FLOOD (Дальний Восток), начиная с решения года3+, при устойчивых KPI текущих лотов. Пятый лот не является допустимым решением нынешнего кейса: при изменении состава или бюджете нужна новая постановка и пересчёт. Не выдаём расширение до5–6 лотов за итог перебора четырёх.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Портфельный scale 4,675 против среднего по восьми лотам4,5; это согласуется с мотивом тиражирования. Значения выбранных:AGRI4,8,TRANS4,7,ENV4,7,FIRE4,5. FIRE равен среднему, а не выше. Эти индексы не являются эмпирическим доказательством размера экономии на следующем регионе.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П8–П9; test-main/data/lots.csv; user_modes.py.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П9. ПЛАН, РЕСУРСЫ И КОНТРОЛЬ. Этапы — предложение команды.</a:t>
            </a:r>
          </a:p>
          <a:p xmlns:a="http://schemas.openxmlformats.org/drawingml/2006/main">
            <a:r>
              <a:t>Т0,месяцы0–2: заказчик утверждает портфель, капитальное финансирование и схему D3; выход — мандат на закупку. Зависит от решения о бюджете C0.</a:t>
            </a:r>
          </a:p>
          <a:p xmlns:a="http://schemas.openxmlformats.org/drawingml/2006/main">
            <a:r>
              <a:t>Т1,месяцы2–6: заказчик и операторы проводят конкурсы, выбирают общий EO-компонент и коммерческую платформу, подписывают договоры; зависит от Т0.</a:t>
            </a:r>
          </a:p>
          <a:p xmlns:a="http://schemas.openxmlformats.org/drawingml/2006/main">
            <a:r>
              <a:t>Т2,месяцы6–10: оператор развёртывает сервисы, заказчик с профильными службами принимает; паспорт бесплатного доступа и своевременности FIRE/ENV подписан, переносимость D3 проверена; зависит от Т1.</a:t>
            </a:r>
          </a:p>
          <a:p xmlns:a="http://schemas.openxmlformats.org/drawingml/2006/main">
            <a:r>
              <a:t>Т3,месяцы10–12: оператор запускает anchor/commercial-платежи и предоставляет первый SLA-отчёт; зависит от Т2.</a:t>
            </a:r>
          </a:p>
          <a:p xmlns:a="http://schemas.openxmlformats.org/drawingml/2006/main">
            <a:r>
              <a:t>Т4,годы1–10: заказчик проводит ежегодный аудит KPI и конкурсный пересмотр D3-оператора раз в3 года; требуется текущий бюджет OPEX. Финансовая модель использует10 полных годовых периодов постоянных потоков и не моделирует помесячное развёртывание; график является управленческим дополнением.</a:t>
            </a:r>
          </a:p>
          <a:p xmlns:a="http://schemas.openxmlformats.org/drawingml/2006/main">
            <a:r>
              <a:t>Т5,год3+: заказчик и региональные партнёры решают вопрос расширения на FLOOD по накопленному опыту; условие — устойчивые KPI Т4 и новая проверка бюджета/совместимости.</a:t>
            </a:r>
          </a:p>
          <a:p xmlns:a="http://schemas.openxmlformats.org/drawingml/2006/main">
            <a:r>
              <a:t>Капитальные ресурсы1104 предложено выплачивать20/50/30% по Т0/Т1/Т2. Годовые расходы300,55 оплачиваются поступлениями398 в номинальной модели; реальные условия финансирования нужно подтвердить.</a:t>
            </a:r>
          </a:p>
          <a:p xmlns:a="http://schemas.openxmlformats.org/drawingml/2006/main">
            <a:r>
              <a:t>KPI 1: PASS всех 9 ограничений BASE/STRESS; источник обновлённая смета/evaluate.py; проверка пересчётом при изменении сметы. KPI 2: kcash≥1 как управленческая цель (формальный минимум0,6); источник бухотчётность; ежегодный аудит заказчиком. KPI 3: доступность общественного слоя≥99% как предлагаемый SLA; источник логи; ежеквартальный отчёт и выборочная проверка. KPI 4: фактическая экономия D3 не ниже подтверждённой тендером доли; смета против факта; независимый аудит. KPI 5: предотвращённый ущерб/площадь по FIRE и случаи реагирования ENV — положительная динамика год к году; отчёты профильных служб, верификация заказчиком, публичный отчёт. Атрибуция предотвращённого ущерба требует отдельного метода, здесь не заявлена доказанной. KPI 6: подписчики AGRI/TRANS растут относительно пилотной когорты; CRM, ежегодная сверка с коммерческим прогнозом.</a:t>
            </a:r>
          </a:p>
          <a:p xmlns:a="http://schemas.openxmlformats.org/drawingml/2006/main">
            <a:r>
              <a:t>Достижение KPI во время хакатона не заявляется и не требуется. Показаны будущие измерители, источники и владельцы контроля.</a:t>
            </a:r>
          </a:p>
          <a:p xmlns:a="http://schemas.openxmlformats.org/drawingml/2006/main">
            <a:r>
              <a:t>ИСТОЧНИКИ: ЗАПИСКА.md, П3, П9; официальные «Космос как инфраструктура — Постановка задачи.pdf» и «Критерии оценки.pdf», П9.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Т1–Т5. ПРЕДЪЯВЛЕНИЕ ИНСТРУМЕНТА И РЕШЕНИЕ К ЗАЩИТЕ. Независимо повторён запуск tests.py:12/12PASS; быстрый путь сверяется с каноническими расчётами на всех 5670ABC, максимальная ошибка2,27e−13. Перебор воспроизводит60 строк фронта с той же погрешностью. Проверены границы C0/t_rep, согласованность финансовых формул и независимость SROI от CASH.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Демонстрация в каталоге test-main: python evaluate.py FIRE:D3 AGRI:C TRANS:C ENV:D3. Затем изменить TRANS:C на TRANS:B и сравнить NPV−505→−581,VPUB 1199→1243,запас76→71. Изменить ставку/горизонт флагами --discount-rate 0.07 --horizon 15; показать новый расчёт (не путать его с финальным10%/10 лет). Для видимого FAIL: python evaluate.py ARCTIC:A SSA:A FIRE:A FLOOD:A --constraints-only; инструмент показывает порог, факт, запас, PASS/FAIL. Веса восьми диагностических критериев меняются через --weights без правки кода; это другой сохранённый score, не веса трёх блоков финального выбора. При демонстрации новой D3-конфигурации отдельно проверить допуск механизма из user_modes/pareto_search, так как evaluate.py сам не отклоняет все несовместимые назначения D3.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Т4: оба сценария одного портфеля печатаются рядом, полный фронт и альтернативы доступны в PARETO_FRONT.md и автономном HTML test-main/output/pareto_front.html. Т5: Python,pandas,numpy; после установки зависимостей расчёт офлайн, без API-ключей/регистрации/оплаты. RUN.md содержит точные команды запуска и воспроизведения. Для защиты требуется именно живое изменение входов и пересчёт, слайд его не заменяет.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Решение на утверждение: портфель №10 и предлагаемая схема капитального финансирования1104; до закупки подтвердить смету D3, распределение затрат, совместимость требований, плательщиков и паспорт доступа. Запас76 по официальному STRESS;38,2 при провале ожидаемой экономии с сохранением координационных расходов. Не объявлять, что D3 уже подтверждён или договоры заключены.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Материалы проекта: ЗАПИСКА.md; СТРЕСС-РЕЗЮМЕ.md; САМООЦЕНКА.md (самооценка команды, не официальный результат жюри); PARETO_FRONT.md; исходные данные/конфигурация/код; RUN.md. Официальный комплект размещается командой в GitVerse по требованиям задания.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ЗАПИСКА.md, Т1–Т5 и приложения; test-main/RUN.md, tests.py,evaluate.py,pareto_search.py; официальные постановка/критерии. Версия исходных материалов: репозиторий 0c3ede2, 12.09.2026.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50b5dc5fbd3482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07521ca063f40f8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9e088b76313e434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73f6b1337eb477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e5bd965422f4f4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6005697b81f4baf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4b2909e00abc446d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6f4a5667c4d149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bc47c4864b74faa" Type="http://schemas.openxmlformats.org/officeDocument/2006/relationships/theme" Target="theme/theme2.xml"/><Relationship Id="R51a383c1666d4c6d" Type="http://schemas.openxmlformats.org/officeDocument/2006/relationships/slideLayout" Target="../slideLayouts/slideLayout1.xml"/><Relationship Id="R7ef2c07a15a14c07" Type="http://schemas.openxmlformats.org/officeDocument/2006/relationships/slideLayout" Target="../slideLayouts/slideLayout2.xml"/><Relationship Id="R8ba0c4391db6439f" Type="http://schemas.openxmlformats.org/officeDocument/2006/relationships/slideLayout" Target="../slideLayouts/slideLayout5.xml"/><Relationship Id="R95f473fd394e4458" Type="http://schemas.openxmlformats.org/officeDocument/2006/relationships/slideLayout" Target="../slideLayouts/slideLayout8.xml"/><Relationship Id="R98e2ea9eb6ca4e93" Type="http://schemas.openxmlformats.org/officeDocument/2006/relationships/slideLayout" Target="../slideLayouts/slideLayout6.xml"/><Relationship Id="Rc4361f96ce514ee8" Type="http://schemas.openxmlformats.org/officeDocument/2006/relationships/slideLayout" Target="../slideLayouts/slideLayout3.xml"/><Relationship Id="Re7674b4575dc434c" Type="http://schemas.openxmlformats.org/officeDocument/2006/relationships/slideLayout" Target="../slideLayouts/slideLayout4.xml"/><Relationship Id="Ree89b07493404e30" Type="http://schemas.openxmlformats.org/officeDocument/2006/relationships/slideLayout" Target="../slideLayouts/slideLayout7.xml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a383c1666d4c6d"/>
    <p:sldLayoutId xmlns:r="http://schemas.openxmlformats.org/officeDocument/2006/relationships" id="2147483650" r:id="R7ef2c07a15a14c07"/>
    <p:sldLayoutId xmlns:r="http://schemas.openxmlformats.org/officeDocument/2006/relationships" id="2147483651" r:id="Rc4361f96ce514ee8"/>
    <p:sldLayoutId xmlns:r="http://schemas.openxmlformats.org/officeDocument/2006/relationships" id="2147483652" r:id="Re7674b4575dc434c"/>
    <p:sldLayoutId xmlns:r="http://schemas.openxmlformats.org/officeDocument/2006/relationships" id="2147483653" r:id="R8ba0c4391db6439f"/>
    <p:sldLayoutId xmlns:r="http://schemas.openxmlformats.org/officeDocument/2006/relationships" id="2147483654" r:id="R98e2ea9eb6ca4e93"/>
    <p:sldLayoutId xmlns:r="http://schemas.openxmlformats.org/officeDocument/2006/relationships" id="2147483655" r:id="Ree89b07493404e30"/>
    <p:sldLayoutId xmlns:r="http://schemas.openxmlformats.org/officeDocument/2006/relationships" id="2147483656" r:id="R95f473fd394e445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c85b3592afc4a64" Type="http://schemas.openxmlformats.org/officeDocument/2006/relationships/slideLayout" Target="../slideLayouts/slideLayout1.xml"/><Relationship Id="Rffbd22bd340846b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7651a4accc04e6c" Type="http://schemas.openxmlformats.org/officeDocument/2006/relationships/notesSlide" Target="../notesSlides/notesSlide2.xml"/><Relationship Id="Rda7e1e3a0eb04fbd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8bf3b2cecbef4da8" Type="http://schemas.openxmlformats.org/officeDocument/2006/relationships/notesSlide" Target="../notesSlides/notesSlide3.xml"/><Relationship Id="Rd6eab5029d1a409f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57ab83996d224132" Type="http://schemas.openxmlformats.org/officeDocument/2006/relationships/notesSlide" Target="../notesSlides/notesSlide4.xml"/><Relationship Id="Rb0c595a15e7f4517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277a607412a54f32" Type="http://schemas.openxmlformats.org/officeDocument/2006/relationships/slideLayout" Target="../slideLayouts/slideLayout2.xml"/><Relationship Id="R878d344d48dc46f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527683020e584b03" Type="http://schemas.openxmlformats.org/officeDocument/2006/relationships/slideLayout" Target="../slideLayouts/slideLayout6.xml"/><Relationship Id="R8fabaf1a4cfe4d62" Type="http://schemas.openxmlformats.org/officeDocument/2006/relationships/notesSlide" Target="../notesSlides/notesSlide6.xml"/><Relationship Id="Rb205a4b9d88d437a" Type="http://schemas.openxmlformats.org/officeDocument/2006/relationships/chart" Target="charts/chart1.xml"/></Relationships>
</file>

<file path=ppt/slides/_rels/slide7.xml.rels><?xml version='1.0' encoding='UTF-8' standalone='yes'?>
<Relationships xmlns="http://schemas.openxmlformats.org/package/2006/relationships"><Relationship Id="R0a3cd8c2cfa14b70" Type="http://schemas.openxmlformats.org/officeDocument/2006/relationships/notesSlide" Target="../notesSlides/notesSlide7.xml"/><Relationship Id="R806190ae1c4243a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fe47987ae624f4f" Type="http://schemas.openxmlformats.org/officeDocument/2006/relationships/slideLayout" Target="../slideLayouts/slideLayout6.xml"/><Relationship Id="Ra3eae38b513746e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178a575c6f544a7" Type="http://schemas.openxmlformats.org/officeDocument/2006/relationships/slideLayout" Target="../slideLayouts/slideLayout6.xml"/><Relationship Id="R73f0f6600d42407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a00c30aba7524e87" Type="http://schemas.openxmlformats.org/officeDocument/2006/relationships/notesSlide" Target="../notesSlides/notesSlide10.xml"/><Relationship Id="Rb7bbf033e35b4e9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97d4c7373b654493" Type="http://schemas.openxmlformats.org/officeDocument/2006/relationships/notesSlide" Target="../notesSlides/notesSlide11.xml"/><Relationship Id="Rbb6433b0a9e04ce4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1d1e9d2205c94fe9" Type="http://schemas.openxmlformats.org/officeDocument/2006/relationships/notesSlide" Target="../notesSlides/notesSlide12.xml"/><Relationship Id="R81345d2ce3914fe8" Type="http://schemas.openxmlformats.org/officeDocument/2006/relationships/slideLayout" Target="../slideLayouts/slideLayout6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Млн руб. в год</c:v>
          </c:tx>
          <c:spPr>
            <a:solidFill xmlns:a="http://schemas.openxmlformats.org/drawingml/2006/main">
              <a:srgbClr val="3357B8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A7B5D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357B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Поступления</c:v>
                </c:pt>
                <c:pt idx="1">
                  <c:v>OPEX</c:v>
                </c:pt>
                <c:pt idx="2">
                  <c:v>Остаток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398</c:v>
                </c:pt>
                <c:pt idx="1">
                  <c:v>300.55</c:v>
                </c:pt>
                <c:pt idx="2">
                  <c:v>97.45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3357B8"/>
                  </a:solidFill>
                  <a:latin typeface="Roboto"/>
                  <a:ea typeface="Roboto"/>
                  <a:cs typeface="Robo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FD2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FE4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AFCFE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CF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71500" y="1362075"/>
            <a:ext cx="10858500" cy="20383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5175" b="0">
                <a:solidFill>
                  <a:srgbClr val="3357B8"/>
                </a:solidFill>
                <a:latin typeface="Lora Medium"/>
                <a:ea typeface="Lora Medium"/>
                <a:cs typeface="Lora Medium"/>
              </a:defRPr>
            </a:pPr>
            <a:r>
              <a:rPr sz="5175" b="0">
                <a:solidFill>
                  <a:srgbClr val="3357B8"/>
                </a:solidFill>
                <a:latin typeface="Lora Medium"/>
                <a:ea typeface="Lora Medium"/>
                <a:cs typeface="Lora Medium"/>
              </a:rPr>
              <a:t>Космос как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5175" b="0">
                <a:solidFill>
                  <a:srgbClr val="3357B8"/>
                </a:solidFill>
                <a:latin typeface="Lora Medium"/>
                <a:ea typeface="Lora Medium"/>
                <a:cs typeface="Lora Medium"/>
              </a:defRPr>
            </a:pPr>
            <a:r>
              <a:rPr sz="5175" b="0">
                <a:solidFill>
                  <a:srgbClr val="3357B8"/>
                </a:solidFill>
                <a:latin typeface="Lora Medium"/>
                <a:ea typeface="Lora Medium"/>
                <a:cs typeface="Lora Medium"/>
              </a:rPr>
              <a:t>инфраструктура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0075" y="5029200"/>
            <a:ext cx="6819900" cy="1152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Общественное ядро для Сибири и Волго-Каспия.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Коммерческие сервисы для Юга и Центра.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Портфель №10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100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FIRE:D3  ·  AGRI:C  ·  TRANS:C  ·  ENV:D3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КосмоХакатон 2026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01393D92-F72C-410C-9DC7-05913460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>
            <a:pPr marL="0" indent="0"/>
          </a:p>
        </p:txBody>
      </p:sp>
      <p:sp>
        <p:nvSpPr>
          <p:cNvPr id="11" name="Capital number">
            <a:extLst xmlns:a="http://schemas.openxmlformats.org/drawingml/2006/main">
              <a:ext uri="{FF2B5EF4-FFF2-40B4-BE49-F238E27FC236}">
                <a16:creationId xmlns:a16="http://schemas.microsoft.com/office/drawing/2014/main" id="{337D7358-7939-425C-A0B5-AC2F0610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62525"/>
            <a:ext cx="309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9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39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1 104</a:t>
            </a:r>
          </a:p>
        </p:txBody>
      </p:sp>
      <p:sp>
        <p:nvSpPr>
          <p:cNvPr id="12" name="Capital unit">
            <a:extLst xmlns:a="http://schemas.openxmlformats.org/drawingml/2006/main">
              <a:ext uri="{FF2B5EF4-FFF2-40B4-BE49-F238E27FC236}">
                <a16:creationId xmlns:a16="http://schemas.microsoft.com/office/drawing/2014/main" id="{429874CB-E3BB-4089-8D7F-A15542A1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29275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млн руб. на запуск</a:t>
            </a:r>
          </a:p>
        </p:txBody>
      </p:sp>
      <p:sp>
        <p:nvSpPr>
          <p:cNvPr id="13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02A0CAA9-0229-4A12-B8F3-4A18BE72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Полный расчёт и обоснование — ЗАПИСКА.md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603504" y="3474720"/>
            <a:ext cx="8229600" cy="38404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50" b="0">
                <a:solidFill>
                  <a:srgbClr val="17212F"/>
                </a:solidFill>
                <a:latin typeface="Lora Medium"/>
              </a:rPr>
              <a:t>Михаил Урусов  ·  Тимофей Ильин  ·  Егор Сапрунов</a:t>
            </a:r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Четыре региона — четыре потребности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5000625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Пожарные службы и лесничества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Ранние очаги → мобилизация сил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Эффект: снижение ущерба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VPUB — оценка эффекта по шкале кейса, а не выручка.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20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Получатель, потребность, эффект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Сибирь · FIRE · D3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5000625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Хозяйства и агрохолдинги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Мониторинг полей → точные решения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Эффект: экономия ресурсов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Юг · AGRI · C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5000625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Транспортные и логистические операторы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Мониторинг потоков → управление движением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Эффект: меньше заторов и аварий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Центр · TRANS · C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48250"/>
            <a:ext cx="5000625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Экологические службы и население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Загрязнение → предупреждение и реагирование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Эффект: снижение экориска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0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Волго-Каспий · ENV · D3</a:t>
            </a:r>
          </a:p>
        </p:txBody>
      </p:sp>
      <p:sp>
        <p:nvSpPr>
          <p:cNvPr id="534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04667C69-8675-448E-A68A-205B68B4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П1 · D3: бесплатное общественное ядро. C: платный сервис, 62% исходного VPUB.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Модель: деньги, общественная польза, качество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5534025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8 лотов → 4 лота с режимами.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5 коэффициентов меняют C0, OPEX,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VPUB и поступления.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CASH = anchor + commercial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Остаток = CASH − OPEX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kcash = CASH / OPEX</a:t>
            </a:r>
            <a:r>
              <a:rPr sz="1725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Ставка 10%, горизонт 10 лет —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допущения команды.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100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От лотов к показателям портфеля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100">
                <a:solidFill>
                  <a:srgbClr val="3357B8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Сумма z(NPV), z(PI), z(</a:t>
            </a: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k</a:t>
            </a:r>
            <a:r>
              <a:rPr sz="1575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cash</a:t>
            </a: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).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Возврат капитала и покрытие эксплуатации.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Деньги · </a:t>
            </a: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</a:t>
            </a:r>
            <a:r>
              <a:rPr sz="1875" b="1" baseline="-25000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fin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Сумма z(VPUB), z(SROI), z(доли ядра).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VPUB не входит в CASH.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Общественная польза · </a:t>
            </a: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</a:t>
            </a:r>
            <a:r>
              <a:rPr sz="1875" b="1" baseline="-25000">
                <a:solidFill>
                  <a:srgbClr val="3357B8"/>
                </a:solidFill>
                <a:latin typeface="Roboto"/>
                <a:ea typeface="Roboto"/>
                <a:cs typeface="Roboto"/>
              </a:rPr>
              <a:t>public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Сумма z(</a:t>
            </a: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t</a:t>
            </a:r>
            <a:r>
              <a:rPr sz="1575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rep</a:t>
            </a: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), z(готовности),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z(устойчивости), z(тиражируемости).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Качество · </a:t>
            </a: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</a:t>
            </a:r>
            <a:r>
              <a:rPr sz="1875" b="1" baseline="-25000">
                <a:solidFill>
                  <a:srgbClr val="3357B8"/>
                </a:solidFill>
                <a:latin typeface="Roboto"/>
                <a:ea typeface="Roboto"/>
                <a:cs typeface="Roboto"/>
              </a:rPr>
              <a:t>quality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34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DC232BC7-BEC4-4742-8DE3-EC949AA4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П2 · z = minmax по 1 056 допустимым портфелям. Качество зависит от состава, а не режима.</a:t>
            </a: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Из 60 вариантов выбран портфель №10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П4 · Сравнение вариантов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7" name="Enumeration">
            <a:extLst xmlns:a="http://schemas.openxmlformats.org/drawingml/2006/main">
              <a:ext uri="{FF2B5EF4-FFF2-40B4-BE49-F238E27FC236}">
                <a16:creationId xmlns:a16="http://schemas.microsoft.com/office/drawing/2014/main" id="{8CC2B0EB-8D05-4F0F-9560-503DFA93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11401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30 170 комбинаций  →  20 161 после допуска D3  →  1 056 BASE + STRESS  →  60 на фронте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90525" y="2143125"/>
          <a:ext xmlns:a="http://schemas.openxmlformats.org/drawingml/2006/main" cx="11401425" cy="2571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43425"/>
                <a:gridCol w="1714500"/>
                <a:gridCol w="1809750"/>
                <a:gridCol w="1619250"/>
                <a:gridCol w="1714500"/>
              </a:tblGrid>
              <a:tr h="4286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Вариант и отличие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NPV, млн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VPUB / год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Качество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Запас C0¹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</a:tr>
              <a:tr h="4286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№10 · выбранный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−505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1 199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3,000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76,0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</a:tr>
              <a:tr h="4286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№11 · TRANS:B вместо C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−581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1 243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3,000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71,0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286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№1 · FLOOD вместо FIRE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−480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1 239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2,508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55,9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286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№30 · максимум пользы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−1 282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1 610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1,548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1,8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286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№40 · максимум качества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−676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1 014,6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3,413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7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42,9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9" name="Decision rule">
            <a:extLst xmlns:a="http://schemas.openxmlformats.org/drawingml/2006/main">
              <a:ext uri="{FF2B5EF4-FFF2-40B4-BE49-F238E27FC236}">
                <a16:creationId xmlns:a16="http://schemas.microsoft.com/office/drawing/2014/main" id="{89FAF6DE-4D35-416C-8133-75511F0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1401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№10 и №11: минимальная сумма рангов = 71. Ничья решена по S: 6,689 &gt; 6,570.</a:t>
            </a:r>
          </a:p>
        </p:txBody>
      </p:sp>
      <p:sp>
        <p:nvSpPr>
          <p:cNvPr id="10" name="Explicit tradeoff">
            <a:extLst xmlns:a="http://schemas.openxmlformats.org/drawingml/2006/main">
              <a:ext uri="{FF2B5EF4-FFF2-40B4-BE49-F238E27FC236}">
                <a16:creationId xmlns:a16="http://schemas.microsoft.com/office/drawing/2014/main" id="{C6CF7F8B-2DEF-426C-A577-351C5AE2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10200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Цена выбора: общественная польза — 47-е место из 60; ядро и группы — на минимуме.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S — сумма трёх нормированных блоков.</a:t>
            </a:r>
          </a:p>
        </p:txBody>
      </p:sp>
      <p:sp>
        <p:nvSpPr>
          <p:cNvPr id="11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7BE34234-A6ED-4072-870C-5E2F30D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¹ До лимита STRESS, млн руб. · D1 и D3 — отдельные прогоны.</a:t>
            </a:r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0525" y="2133600"/>
            <a:ext cx="5534025" cy="233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Общий приём и первичная обработка.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Карты, пороги и интеграции —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локальные.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Допуск: ≥ 2 лота с общей группой.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Совпадения EO недостаточно: нужны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совместимые требования и смета.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D3: экономия на общем компоненте FIRE и ENV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33600"/>
            <a:ext cx="5534025" cy="233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Доли затрат и экономии — гипотеза команды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kC0 = 1,05 × (1 − 0,20 × 0,30) + 0,02 = 1,007</a:t>
            </a:r>
            <a:r>
              <a:rPr sz="1725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kOPEX = 1,05 × (1 − 0,25 × 0,20) + 0,02 = 1,0175</a:t>
            </a:r>
            <a:r>
              <a:rPr sz="1725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Остальные: 1 · 1 · 0,25 — ядро сохранено.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014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FIRE + ENV: общий EO-компонент</a:t>
            </a:r>
          </a:p>
        </p:txBody>
      </p:sp>
      <p:sp>
        <p:nvSpPr>
          <p:cNvPr id="535" name="D3 measurable effect">
            <a:extLst xmlns:a="http://schemas.openxmlformats.org/drawingml/2006/main">
              <a:ext uri="{FF2B5EF4-FFF2-40B4-BE49-F238E27FC236}">
                <a16:creationId xmlns:a16="http://schemas.microsoft.com/office/drawing/2014/main" id="{BC660057-7207-49B7-B426-A80BB865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74920"/>
            <a:ext cx="11401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Против A: −25,8 млн C0 и −5,2 млн OPEX/год.</a:t>
            </a:r>
          </a:p>
        </p:txBody>
      </p:sp>
      <p:sp>
        <p:nvSpPr>
          <p:cNvPr id="536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B5D443E9-EFAC-468F-918C-A5E70AFA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П2, П5 · D1 — платная надстройка над A; рассмотрена, но в итоговый портфель не вошла.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Эксплуатация покрыта. Старт требует финансирования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952750"/>
            <a:ext cx="5533930" cy="15621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819650"/>
            <a:ext cx="5533930" cy="15240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48958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При 10% и 10 годах: PI 0,54; IRR −2,2%.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Простая окупаемость 11,3 года.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Остаток за год не равен возврату капитала.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52775"/>
            <a:ext cx="489585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−505 млн руб. · NPV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438775"/>
            <a:ext cx="48958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VPUB = 1 199 млн руб. в год по шкале кейса.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К денежным поступлениям не прибавляется.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038725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2,50 · SROI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1123950"/>
            <a:ext cx="5533930" cy="15621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09750"/>
            <a:ext cx="4895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Капитальный грант или целевой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трансферт заказчика.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323975"/>
            <a:ext cx="489585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1 104 млн руб. · запуск</a:t>
            </a:r>
          </a:p>
        </p:txBody>
      </p:sp>
      <p:graphicFrame>
        <p:nvGraphicFramePr>
          <p:cNvPr id="550" name="Chart"/>
          <p:cNvGraphicFramePr/>
          <p:nvPr/>
        </p:nvGraphicFramePr>
        <p:xfrm>
          <a:off xmlns:a="http://schemas.openxmlformats.org/drawingml/2006/main" x="390525" y="1628775"/>
          <a:ext xmlns:a="http://schemas.openxmlformats.org/drawingml/2006/main" cx="549592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05a4b9d88d437a"/>
          </a:graphicData>
        </a:graphic>
      </p:graphicFrame>
      <p:sp>
        <p:nvSpPr>
          <p:cNvPr id="535" name="Annual inflows">
            <a:extLst xmlns:a="http://schemas.openxmlformats.org/drawingml/2006/main">
              <a:ext uri="{FF2B5EF4-FFF2-40B4-BE49-F238E27FC236}">
                <a16:creationId xmlns:a16="http://schemas.microsoft.com/office/drawing/2014/main" id="{C7AA910E-750D-4C8C-85D8-52B745FC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8720"/>
            <a:ext cx="561975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Денежные потоки, млн руб. в год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 b="1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536" name="Funding installments">
            <a:extLst xmlns:a="http://schemas.openxmlformats.org/drawingml/2006/main">
              <a:ext uri="{FF2B5EF4-FFF2-40B4-BE49-F238E27FC236}">
                <a16:creationId xmlns:a16="http://schemas.microsoft.com/office/drawing/2014/main" id="{645ACE5B-4F77-4D7C-ACDD-CDFF6822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85232"/>
            <a:ext cx="558165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398 = 163,75 якорных + 234,25 коммерческих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Транши C0: 20% / 50% / 30%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Утверждение → контракты → приёмка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537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82002913-FCF0-402E-B77E-575784BC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П3 · Годовой остаток 97,45 млн руб.; </a:t>
            </a: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k</a:t>
            </a:r>
            <a:r>
              <a:rPr sz="1050" b="0" baseline="-2500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cash</a:t>
            </a: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 1,324. Капитальный и эксплуатационный бюджеты разделены.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7F9C1C9-D377-4979-B013-6D0BCFBF30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0525" y="2686050"/>
            <a:ext cx="5534025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Заказчик закупает, оператор поставляет,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службы принимают.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Общественный слой бесплатный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и недискриминационный.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23E24F6-1623-4297-AA58-F5B912F685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FIRE + ENV</a:t>
            </a: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5534025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Годовую подписку платит пользователь.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Плательщик якорных 33,75 млн/год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не определён. Бесплатного слоя нет.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340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AGRI + TRANS · C</a:t>
            </a: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Кто платит, пользуется и отвечает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47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П5 · Договорная схема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2D124A97-28C2-4E93-933E-9D537D34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>
            <a:pPr marL="0" indent="0"/>
          </a:p>
        </p:txBody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953000"/>
            <a:ext cx="5534025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Капитальный риск — заказчик.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SLA — оператор.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Спрос — коммерческий оператор.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10075"/>
            <a:ext cx="55340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Риски закрепляются договором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1428750" cy="400050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D3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86325"/>
            <a:ext cx="553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Договор: 3 года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72100"/>
            <a:ext cx="5534025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Пересмотр конкурсом; экспорт данных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и API для смены оператора.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Нарушение SLA → снижение оплаты.</a:t>
            </a:r>
          </a:p>
        </p:txBody>
      </p:sp>
      <p:sp>
        <p:nvSpPr>
          <p:cNvPr id="535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C1D12E8D-F2FF-4ECE-89EB-05D61FE9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П5 · Условия, сроки и санкции фиксируются договором на этапе Т1.</a:t>
            </a:r>
          </a:p>
        </p:txBody>
      </p:sp>
    </p:spTree>
    <p:extLst>
      <p:ext uri="{BB962C8B-B14F-4D97-AF65-F5344CB8AC3E}">
        <p14:creationId xmlns:p14="http://schemas.microsoft.com/office/powerpoint/2010/main" val="12872320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STRESS пройден — даже при провале экономии D3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4000500" cy="1781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STRESS меняет только лимит.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Состав и смета сохраняются.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Ниже: экономия D3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при сохранённой координации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52575"/>
            <a:ext cx="3600450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Лимит C0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4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1 300 → 1 180</a:t>
            </a:r>
          </a:p>
        </p:txBody>
      </p:sp>
      <p:graphicFrame>
        <p:nvGraphicFramePr>
          <p:cNvPr id="543" name=""/>
          <p:cNvGraphicFramePr/>
          <p:nvPr/>
        </p:nvGraphicFramePr>
        <p:xfrm>
          <a:off xmlns:a="http://schemas.openxmlformats.org/drawingml/2006/main" x="390525" y="4619625"/>
          <a:ext xmlns:a="http://schemas.openxmlformats.org/drawingml/2006/main" cx="4000500" cy="1485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33500"/>
                <a:gridCol w="1333500"/>
                <a:gridCol w="1333500"/>
              </a:tblGrid>
              <a:tr h="37147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Экономия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C0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Запас¹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</a:tr>
              <a:tr h="37147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1 104,0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76,0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37147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50%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1 122,9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57,1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37147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1 141,8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38,2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4" name=""/>
          <p:cNvGraphicFramePr/>
          <p:nvPr/>
        </p:nvGraphicFramePr>
        <p:xfrm>
          <a:off xmlns:a="http://schemas.openxmlformats.org/drawingml/2006/main" x="4743450" y="1543050"/>
          <a:ext xmlns:a="http://schemas.openxmlformats.org/drawingml/2006/main" cx="7048500" cy="4591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90800"/>
                <a:gridCol w="1466850"/>
                <a:gridCol w="1466850"/>
                <a:gridCol w="1524000"/>
              </a:tblGrid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Условие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STRESS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Факт²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Лоты, разные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= 4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= 4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Архетипы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3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3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Группы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2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2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Общественное ядро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2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2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C0, млн руб.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≤ 1 300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≤ 1 180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1 104</a:t>
                      </a:r>
                    </a:p>
                  </a:txBody>
                  <a:tcPr marL="91440" marR="91440" marT="45720" marB="45720" anchor="ctr">
                    <a:solidFill>
                      <a:srgbClr val="E9EEFA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OPEX, млн / год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≤ 360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≤ 360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300,55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VPUB, млн / год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1 000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1 000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1 199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k</a:t>
                      </a:r>
                      <a:r>
                        <a:rPr sz="1425" b="0" baseline="-2500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cash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0,60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0,60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1,324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45910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t</a:t>
                      </a:r>
                      <a:r>
                        <a:rPr sz="1425" b="0" baseline="-2500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rep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0,63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≥ 0,63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0,730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537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DBA13A9C-537E-4DAB-9F4C-3D0B7CA8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П6 · ¹ До 1 180 млн руб.  ² Номинальный D3. Все 9 условий — PASS; при 0% и 50% экономии также PASS.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Риски связаны с выбранными лотами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Сравнительная смета и аудит до закупки.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При нулевой экономии запас C0 — 38,2 млн.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Падение коммерческой выручки на 41,6% убирает профицит.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До порога kcash ≥ 0,6 — запас 92,9%.</a:t>
            </a: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  <a:r>
              <a:rPr sz="1575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9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Устойчивость по ограничениям не отменяет риск исполнения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294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Экономия D3 не подтверждена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Открытые API, экспорт и конкурс раз в 3 года.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Общий отказ затрагивает FIRE и ENV.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Нужны реально доступные альтернативы.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294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Один EO-поставщик для двух лотов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Пилотные контракты; контроль CRM и </a:t>
            </a: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k</a:t>
            </a:r>
            <a:r>
              <a:rPr sz="1500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cash</a:t>
            </a: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При нулевой commercial: </a:t>
            </a: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k</a:t>
            </a:r>
            <a:r>
              <a:rPr sz="1500" baseline="-250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cash</a:t>
            </a: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 0,545, FAIL.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294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Коммерческий спрос ниже прогноза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48250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Проверить резервный канал и его стоимость.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Порог resilience в кейсе не задан.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294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7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FIRE: устойчивость 3,5 против 4,05</a:t>
            </a:r>
          </a:p>
        </p:txBody>
      </p:sp>
      <p:sp>
        <p:nvSpPr>
          <p:cNvPr id="534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8B29EB7C-32C3-490D-8040-9177D5AE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П7 · Вероятности оценены качественно; модель не содержит статистики отказов и спроса.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2943225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Адаптируем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Карты, пороги тревог,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интеграции со службами,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локальную эксплуатацию.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90975"/>
            <a:ext cx="2943225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Передаём опыт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Спецификации, результаты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приёмки, SLA и правила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следующей закупки.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Тиражируем общий компонент и опыт пилота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90975"/>
            <a:ext cx="2943225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Переносим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EO-приём и обработку,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форматы / API,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72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договор и инструмент.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0"/>
            <a:ext cx="11401425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Кандидат — FLOOD, решение с 3-го года при устойчивых KPI.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Нужны проверка бюджета, совместимости и сметы.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80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02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FIRE + ENV → проверенный пакет → следующий регион</a:t>
            </a:r>
          </a:p>
        </p:txBody>
      </p:sp>
      <p:sp>
        <p:nvSpPr>
          <p:cNvPr id="533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DDCF668F-0016-45A2-B422-7CE54495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П8 · Портфельный scale = 4,675 при среднем 4,5 по восьми лотам — индекс кейса.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0525" y="3810000"/>
            <a:ext cx="3429000" cy="9048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Т0, 0–2: бюджет и мандат.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Т1, 2–6: конкурс и договоры.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Заказчик + операторы.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11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Запуск за 12 месяцев, затем контроль результата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286250" y="3810000"/>
            <a:ext cx="3429000" cy="9048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Т2, 6–10: приёмка и доступ.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Т3, 10–12: запуск платежей.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Оператор + заказчик.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20075" y="3810000"/>
            <a:ext cx="3571875" cy="9334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Т4: аудит; конкурс раз в 3 года.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Т5, год 3+: решение по FLOOD.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Заказчик + региональные партнёры.</a:t>
            </a:r>
          </a:p>
        </p:txBody>
      </p:sp>
      <p:cxnSp>
        <p:nvCxnSpPr>
          <p:cNvPr id="2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3365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0–6 месяцев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6–12 месяцев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33650"/>
            <a:ext cx="323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Годы 1–10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19" name="Stage resources">
            <a:extLst xmlns:a="http://schemas.openxmlformats.org/drawingml/2006/main">
              <a:ext uri="{FF2B5EF4-FFF2-40B4-BE49-F238E27FC236}">
                <a16:creationId xmlns:a16="http://schemas.microsoft.com/office/drawing/2014/main" id="{20E52B84-A95E-4138-9FE9-44C83700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66825"/>
            <a:ext cx="11401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800" b="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Заказчик обеспечивает C0 и приёмку; операторы — развёртывание и эксплуатацию.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390525" y="5133975"/>
          <a:ext xmlns:a="http://schemas.openxmlformats.org/drawingml/2006/main" cx="11401425" cy="1095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3114675"/>
                <a:gridCol w="5572125"/>
              </a:tblGrid>
              <a:tr h="3651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Контроль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Цель команды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Источник и проверка</a:t>
                      </a:r>
                    </a:p>
                  </a:txBody>
                  <a:tcPr marL="91440" marR="91440" marT="45720" marB="45720" anchor="ctr">
                    <a:solidFill>
                      <a:srgbClr val="3357B8"/>
                    </a:solidFill>
                  </a:tcPr>
                </a:tc>
              </a:tr>
              <a:tr h="3651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Финансы / доступ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k</a:t>
                      </a:r>
                      <a:r>
                        <a:rPr sz="1350" b="0" baseline="-2500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cash</a:t>
                      </a:r>
                      <a:r>
                        <a:rPr sz="135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 ≥ 1; SLA ≥ 99%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Бухотчётность — аудит; логи — квартальный отчёт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  <a:tr h="365125"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Общественный эффект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Положительная динамика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  <a:tc>
                  <a:txBody>
                    <a:bodyPr wrap="square" lIns="66675" tIns="47625" rIns="66675" bIns="4762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12F"/>
                          </a:solidFill>
                          <a:latin typeface="Roboto"/>
                          <a:ea typeface="Roboto"/>
                          <a:cs typeface="Roboto"/>
                        </a:rPr>
                        <a:t>FIRE: предотвращённый ущерб; ENV: реагирование¹</a:t>
                      </a:r>
                    </a:p>
                  </a:txBody>
                  <a:tcPr marL="91440" marR="91440" marT="45720" marB="45720" anchor="ctr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21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A248667D-FE3C-4616-BA45-E85DD18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П9 · ¹ Отчёты профильных служб, проверка заказчиком. KPI заданы как цели.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525250" y="6467475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9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33375"/>
            <a:ext cx="11404568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85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Как проверить решение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/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5534025" cy="3876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1. Пересчитать портфель в evaluate.py.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2. Заменить TRANS:C → TRANS:B.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    NPV: −505 → −581; VPUB: 1 199 → 1 243.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3. Сменить ставку, горизонт, веса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    без правки кода.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4. Недопустимый портфель: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    порог, факт, запас, FAIL.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>test-main/RUN.md · работает офлайн.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17212F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57325"/>
            <a:ext cx="5534025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2100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Показать живой пересчёт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12/12 тестов PASS; все 5 670 ABC сверены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 каноном. Максимальная ошибка 2,27 × 10⁻¹³.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Расчёт воспроизводится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FIRE:D3 · AGRI:C · TRANS:C · ENV:D3.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Финансирование C0: 1 104 млн.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Рекомендуем утвердить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Смету D3, плательщиков, совместимость</a:t>
            </a:r>
          </a:p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>
                <a:solidFill>
                  <a:srgbClr val="17212F"/>
                </a:solidFill>
                <a:latin typeface="Roboto"/>
                <a:ea typeface="Roboto"/>
                <a:cs typeface="Roboto"/>
              </a:defRPr>
            </a:pPr>
            <a:r>
              <a:rPr sz="1575">
                <a:solidFill>
                  <a:srgbClr val="17212F"/>
                </a:solidFill>
                <a:latin typeface="Roboto"/>
                <a:ea typeface="Roboto"/>
                <a:cs typeface="Roboto"/>
              </a:rPr>
              <a:t>требований и паспорт общественного доступа.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3357B8"/>
                </a:solidFill>
                <a:latin typeface="Roboto"/>
                <a:ea typeface="Roboto"/>
                <a:cs typeface="Roboto"/>
              </a:defRPr>
            </a:pPr>
            <a:r>
              <a:rPr sz="1875" b="1">
                <a:solidFill>
                  <a:srgbClr val="3357B8"/>
                </a:solidFill>
                <a:latin typeface="Roboto"/>
                <a:ea typeface="Roboto"/>
                <a:cs typeface="Roboto"/>
              </a:rPr>
              <a:t>До закупки подтвердить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534" name="Rubric/source label">
            <a:extLst xmlns:a="http://schemas.openxmlformats.org/drawingml/2006/main">
              <a:ext uri="{FF2B5EF4-FFF2-40B4-BE49-F238E27FC236}">
                <a16:creationId xmlns:a16="http://schemas.microsoft.com/office/drawing/2014/main" id="{CF620CFB-836E-4026-9186-94A6A5ED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77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536172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36172"/>
                </a:solidFill>
                <a:latin typeface="Roboto"/>
                <a:ea typeface="Roboto"/>
                <a:cs typeface="Roboto"/>
              </a:rPr>
              <a:t>Т1–Т5 · Python, pandas, numpy. Команды запуска — test-main/RUN.md.</a:t>
            </a: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2026-09-12T19:16:32.1960000Z</dcterms:created>
  <dcterms:modified xsi:type="dcterms:W3CDTF">2026-09-12T19:16:32.1960000Z</dcterms:modified>
</coreProperties>
</file>